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0" r:id="rId14"/>
    <p:sldId id="279" r:id="rId15"/>
    <p:sldId id="281" r:id="rId16"/>
    <p:sldId id="282" r:id="rId17"/>
    <p:sldId id="268" r:id="rId18"/>
    <p:sldId id="284" r:id="rId19"/>
    <p:sldId id="283" r:id="rId20"/>
    <p:sldId id="285" r:id="rId21"/>
    <p:sldId id="286" r:id="rId22"/>
    <p:sldId id="287" r:id="rId23"/>
    <p:sldId id="288" r:id="rId24"/>
    <p:sldId id="289" r:id="rId25"/>
    <p:sldId id="272" r:id="rId26"/>
    <p:sldId id="273" r:id="rId27"/>
    <p:sldId id="274" r:id="rId28"/>
    <p:sldId id="275" r:id="rId29"/>
    <p:sldId id="276" r:id="rId30"/>
    <p:sldId id="277" r:id="rId31"/>
    <p:sldId id="278" r:id="rId3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434" autoAdjust="0"/>
  </p:normalViewPr>
  <p:slideViewPr>
    <p:cSldViewPr>
      <p:cViewPr>
        <p:scale>
          <a:sx n="70" d="100"/>
          <a:sy n="70" d="100"/>
        </p:scale>
        <p:origin x="-6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3087" y="258699"/>
            <a:ext cx="10041953" cy="10706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9879" y="1819275"/>
            <a:ext cx="11564620" cy="3827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8395" y="1510664"/>
            <a:ext cx="8400415" cy="141605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903605" marR="5080" indent="-891540">
              <a:lnSpc>
                <a:spcPts val="5180"/>
              </a:lnSpc>
              <a:spcBef>
                <a:spcPts val="760"/>
              </a:spcBef>
            </a:pPr>
            <a:r>
              <a:rPr sz="4800" spc="-10" dirty="0"/>
              <a:t>AI-</a:t>
            </a:r>
            <a:r>
              <a:rPr sz="4800" dirty="0"/>
              <a:t>Based</a:t>
            </a:r>
            <a:r>
              <a:rPr sz="4800" spc="-170" dirty="0"/>
              <a:t> </a:t>
            </a:r>
            <a:r>
              <a:rPr sz="4800" spc="-20" dirty="0"/>
              <a:t>Temperature</a:t>
            </a:r>
            <a:r>
              <a:rPr sz="4800" spc="-135" dirty="0"/>
              <a:t> </a:t>
            </a:r>
            <a:r>
              <a:rPr sz="4800" spc="-10" dirty="0"/>
              <a:t>Regulation </a:t>
            </a:r>
            <a:r>
              <a:rPr sz="4800" dirty="0"/>
              <a:t>System</a:t>
            </a:r>
            <a:r>
              <a:rPr sz="4800" spc="-35" dirty="0"/>
              <a:t> </a:t>
            </a:r>
            <a:r>
              <a:rPr sz="4800" dirty="0"/>
              <a:t>in</a:t>
            </a:r>
            <a:r>
              <a:rPr sz="4800" spc="-35" dirty="0"/>
              <a:t> </a:t>
            </a:r>
            <a:r>
              <a:rPr sz="4800" dirty="0"/>
              <a:t>Poultry</a:t>
            </a:r>
            <a:r>
              <a:rPr sz="4800" spc="-35" dirty="0"/>
              <a:t> </a:t>
            </a:r>
            <a:r>
              <a:rPr sz="4800" spc="-10" dirty="0"/>
              <a:t>Farming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064118" y="4202618"/>
            <a:ext cx="3206115" cy="1730375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2150" b="1" dirty="0">
                <a:latin typeface="Times New Roman"/>
                <a:cs typeface="Times New Roman"/>
              </a:rPr>
              <a:t>DONE</a:t>
            </a:r>
            <a:r>
              <a:rPr sz="2150" b="1" spc="125" dirty="0">
                <a:latin typeface="Times New Roman"/>
                <a:cs typeface="Times New Roman"/>
              </a:rPr>
              <a:t> </a:t>
            </a:r>
            <a:r>
              <a:rPr sz="2150" b="1" spc="-25" dirty="0">
                <a:latin typeface="Times New Roman"/>
                <a:cs typeface="Times New Roman"/>
              </a:rPr>
              <a:t>BY</a:t>
            </a:r>
            <a:r>
              <a:rPr sz="2150" spc="-25" dirty="0">
                <a:latin typeface="Calibri"/>
                <a:cs typeface="Calibri"/>
              </a:rPr>
              <a:t>,</a:t>
            </a:r>
            <a:endParaRPr sz="2150">
              <a:latin typeface="Calibri"/>
              <a:cs typeface="Calibri"/>
            </a:endParaRPr>
          </a:p>
          <a:p>
            <a:pPr marL="114300" marR="5080" indent="25400">
              <a:lnSpc>
                <a:spcPct val="133200"/>
              </a:lnSpc>
              <a:spcBef>
                <a:spcPts val="254"/>
              </a:spcBef>
            </a:pPr>
            <a:r>
              <a:rPr sz="1550" b="1" dirty="0">
                <a:solidFill>
                  <a:srgbClr val="2E5496"/>
                </a:solidFill>
                <a:latin typeface="Times New Roman"/>
                <a:cs typeface="Times New Roman"/>
              </a:rPr>
              <a:t>BRINDHA</a:t>
            </a:r>
            <a:r>
              <a:rPr sz="1550" b="1" spc="-5" dirty="0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2E5496"/>
                </a:solidFill>
                <a:latin typeface="Times New Roman"/>
                <a:cs typeface="Times New Roman"/>
              </a:rPr>
              <a:t>R</a:t>
            </a:r>
            <a:r>
              <a:rPr sz="1550" b="1" spc="-5" dirty="0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2E5496"/>
                </a:solidFill>
                <a:latin typeface="Times New Roman"/>
                <a:cs typeface="Times New Roman"/>
              </a:rPr>
              <a:t>A</a:t>
            </a:r>
            <a:r>
              <a:rPr sz="1550" b="1" spc="-10" dirty="0">
                <a:solidFill>
                  <a:srgbClr val="2E5496"/>
                </a:solidFill>
                <a:latin typeface="Times New Roman"/>
                <a:cs typeface="Times New Roman"/>
              </a:rPr>
              <a:t> (952021106002) </a:t>
            </a:r>
            <a:r>
              <a:rPr sz="1550" b="1" dirty="0">
                <a:solidFill>
                  <a:srgbClr val="2E5496"/>
                </a:solidFill>
                <a:latin typeface="Times New Roman"/>
                <a:cs typeface="Times New Roman"/>
              </a:rPr>
              <a:t>MANJULADEVI</a:t>
            </a:r>
            <a:r>
              <a:rPr sz="1550" b="1" spc="135" dirty="0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2E5496"/>
                </a:solidFill>
                <a:latin typeface="Times New Roman"/>
                <a:cs typeface="Times New Roman"/>
              </a:rPr>
              <a:t>S</a:t>
            </a:r>
            <a:r>
              <a:rPr sz="1550" b="1" spc="135" dirty="0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sz="1550" b="1" spc="-10" dirty="0">
                <a:solidFill>
                  <a:srgbClr val="2E5496"/>
                </a:solidFill>
                <a:latin typeface="Times New Roman"/>
                <a:cs typeface="Times New Roman"/>
              </a:rPr>
              <a:t>(952021106004)</a:t>
            </a:r>
            <a:endParaRPr sz="155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320"/>
              </a:spcBef>
            </a:pPr>
            <a:r>
              <a:rPr sz="1550" b="1" dirty="0">
                <a:solidFill>
                  <a:srgbClr val="2E5496"/>
                </a:solidFill>
                <a:latin typeface="Times New Roman"/>
                <a:cs typeface="Times New Roman"/>
              </a:rPr>
              <a:t>NANDHINI</a:t>
            </a:r>
            <a:r>
              <a:rPr sz="1550" b="1" spc="120" dirty="0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2E5496"/>
                </a:solidFill>
                <a:latin typeface="Times New Roman"/>
                <a:cs typeface="Times New Roman"/>
              </a:rPr>
              <a:t>P</a:t>
            </a:r>
            <a:r>
              <a:rPr sz="1550" b="1" spc="45" dirty="0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sz="1550" b="1" spc="-10" dirty="0">
                <a:solidFill>
                  <a:srgbClr val="2E5496"/>
                </a:solidFill>
                <a:latin typeface="Times New Roman"/>
                <a:cs typeface="Times New Roman"/>
              </a:rPr>
              <a:t>(952021106005)</a:t>
            </a:r>
            <a:endParaRPr sz="155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395"/>
              </a:spcBef>
            </a:pPr>
            <a:r>
              <a:rPr sz="1550" b="1" dirty="0">
                <a:solidFill>
                  <a:srgbClr val="2E5496"/>
                </a:solidFill>
                <a:latin typeface="Times New Roman"/>
                <a:cs typeface="Times New Roman"/>
              </a:rPr>
              <a:t>SWETHA</a:t>
            </a:r>
            <a:r>
              <a:rPr sz="1550" b="1" spc="10" dirty="0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2E5496"/>
                </a:solidFill>
                <a:latin typeface="Times New Roman"/>
                <a:cs typeface="Times New Roman"/>
              </a:rPr>
              <a:t>G</a:t>
            </a:r>
            <a:r>
              <a:rPr sz="1550" b="1" spc="130" dirty="0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sz="1550" b="1" spc="-10" dirty="0">
                <a:solidFill>
                  <a:srgbClr val="2E5496"/>
                </a:solidFill>
                <a:latin typeface="Times New Roman"/>
                <a:cs typeface="Times New Roman"/>
              </a:rPr>
              <a:t>(952021106007)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1863" y="4517512"/>
            <a:ext cx="3566795" cy="58547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800" b="1" dirty="0">
                <a:latin typeface="Times New Roman"/>
                <a:cs typeface="Times New Roman"/>
              </a:rPr>
              <a:t>GUIDED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BY,</a:t>
            </a:r>
            <a:endParaRPr sz="1800">
              <a:latin typeface="Times New Roman"/>
              <a:cs typeface="Times New Roman"/>
            </a:endParaRPr>
          </a:p>
          <a:p>
            <a:pPr marL="389255">
              <a:lnSpc>
                <a:spcPct val="100000"/>
              </a:lnSpc>
              <a:spcBef>
                <a:spcPts val="195"/>
              </a:spcBef>
            </a:pPr>
            <a:r>
              <a:rPr sz="1550" b="1" dirty="0">
                <a:solidFill>
                  <a:srgbClr val="2E5496"/>
                </a:solidFill>
                <a:latin typeface="Times New Roman"/>
                <a:cs typeface="Times New Roman"/>
              </a:rPr>
              <a:t>Mrs.</a:t>
            </a:r>
            <a:r>
              <a:rPr sz="1550" b="1" spc="55" dirty="0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sz="1550" b="1" spc="-65" dirty="0">
                <a:solidFill>
                  <a:srgbClr val="2E5496"/>
                </a:solidFill>
                <a:latin typeface="Times New Roman"/>
                <a:cs typeface="Times New Roman"/>
              </a:rPr>
              <a:t>P.</a:t>
            </a:r>
            <a:r>
              <a:rPr sz="1550" b="1" spc="-20" dirty="0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2E5496"/>
                </a:solidFill>
                <a:latin typeface="Times New Roman"/>
                <a:cs typeface="Times New Roman"/>
              </a:rPr>
              <a:t>VEDHANAYAGI</a:t>
            </a:r>
            <a:r>
              <a:rPr sz="1550" b="1" spc="50" dirty="0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2E5496"/>
                </a:solidFill>
                <a:latin typeface="Times New Roman"/>
                <a:cs typeface="Times New Roman"/>
              </a:rPr>
              <a:t>-</a:t>
            </a:r>
            <a:r>
              <a:rPr sz="1550" b="1" spc="-50" dirty="0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sz="1550" b="1" spc="-10" dirty="0">
                <a:solidFill>
                  <a:srgbClr val="2E5496"/>
                </a:solidFill>
                <a:latin typeface="Times New Roman"/>
                <a:cs typeface="Times New Roman"/>
              </a:rPr>
              <a:t>AP(ECE)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6143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30"/>
              </a:spcBef>
            </a:pPr>
            <a:r>
              <a:rPr b="1" spc="-10" dirty="0">
                <a:latin typeface="Times New Roman"/>
                <a:cs typeface="Times New Roman"/>
              </a:rPr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8486" y="2616517"/>
            <a:ext cx="9505315" cy="247523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 algn="just">
              <a:lnSpc>
                <a:spcPct val="92300"/>
              </a:lnSpc>
              <a:spcBef>
                <a:spcPts val="325"/>
              </a:spcBef>
            </a:pPr>
            <a:r>
              <a:rPr sz="2150" dirty="0">
                <a:latin typeface="Times New Roman"/>
                <a:cs typeface="Times New Roman"/>
              </a:rPr>
              <a:t>Poultry</a:t>
            </a:r>
            <a:r>
              <a:rPr sz="2150" spc="14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farming</a:t>
            </a:r>
            <a:r>
              <a:rPr sz="2150" spc="19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is</a:t>
            </a:r>
            <a:r>
              <a:rPr sz="2150" spc="16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a</a:t>
            </a:r>
            <a:r>
              <a:rPr sz="2150" spc="15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critical</a:t>
            </a:r>
            <a:r>
              <a:rPr sz="2150" spc="17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sector</a:t>
            </a:r>
            <a:r>
              <a:rPr sz="2150" spc="18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in</a:t>
            </a:r>
            <a:r>
              <a:rPr sz="2150" spc="17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agriculture,</a:t>
            </a:r>
            <a:r>
              <a:rPr sz="2150" spc="15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providing</a:t>
            </a:r>
            <a:r>
              <a:rPr sz="2150" spc="13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essential</a:t>
            </a:r>
            <a:r>
              <a:rPr sz="2150" spc="14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protein</a:t>
            </a:r>
            <a:r>
              <a:rPr sz="2150" spc="120" dirty="0">
                <a:latin typeface="Times New Roman"/>
                <a:cs typeface="Times New Roman"/>
              </a:rPr>
              <a:t> </a:t>
            </a:r>
            <a:r>
              <a:rPr sz="2150" spc="-10" dirty="0">
                <a:latin typeface="Times New Roman"/>
                <a:cs typeface="Times New Roman"/>
              </a:rPr>
              <a:t>sources </a:t>
            </a:r>
            <a:r>
              <a:rPr sz="2150" dirty="0">
                <a:latin typeface="Times New Roman"/>
                <a:cs typeface="Times New Roman"/>
              </a:rPr>
              <a:t>in</a:t>
            </a:r>
            <a:r>
              <a:rPr sz="2150" spc="9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the</a:t>
            </a:r>
            <a:r>
              <a:rPr sz="2150" spc="7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form</a:t>
            </a:r>
            <a:r>
              <a:rPr sz="2150" spc="10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of</a:t>
            </a:r>
            <a:r>
              <a:rPr sz="2150" spc="7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eggs</a:t>
            </a:r>
            <a:r>
              <a:rPr sz="2150" spc="9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and</a:t>
            </a:r>
            <a:r>
              <a:rPr sz="2150" spc="7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meat.</a:t>
            </a:r>
            <a:r>
              <a:rPr sz="2150" spc="8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Environmental</a:t>
            </a:r>
            <a:r>
              <a:rPr sz="2150" spc="10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conditions</a:t>
            </a:r>
            <a:r>
              <a:rPr sz="2150" spc="7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such</a:t>
            </a:r>
            <a:r>
              <a:rPr sz="2150" spc="9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as</a:t>
            </a:r>
            <a:r>
              <a:rPr sz="2150" spc="75" dirty="0">
                <a:latin typeface="Times New Roman"/>
                <a:cs typeface="Times New Roman"/>
              </a:rPr>
              <a:t>  </a:t>
            </a:r>
            <a:r>
              <a:rPr sz="2150" spc="-10" dirty="0">
                <a:latin typeface="Times New Roman"/>
                <a:cs typeface="Times New Roman"/>
              </a:rPr>
              <a:t>temperature, </a:t>
            </a:r>
            <a:r>
              <a:rPr sz="2150" dirty="0">
                <a:latin typeface="Times New Roman"/>
                <a:cs typeface="Times New Roman"/>
              </a:rPr>
              <a:t>humidity,</a:t>
            </a:r>
            <a:r>
              <a:rPr sz="2150" spc="37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and</a:t>
            </a:r>
            <a:r>
              <a:rPr sz="2150" spc="35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air</a:t>
            </a:r>
            <a:r>
              <a:rPr sz="2150" spc="37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quality</a:t>
            </a:r>
            <a:r>
              <a:rPr sz="2150" spc="36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significantly</a:t>
            </a:r>
            <a:r>
              <a:rPr sz="2150" spc="37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impact</a:t>
            </a:r>
            <a:r>
              <a:rPr sz="2150" spc="35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poultry</a:t>
            </a:r>
            <a:r>
              <a:rPr sz="2150" spc="37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growth,</a:t>
            </a:r>
            <a:r>
              <a:rPr sz="2150" spc="36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health,</a:t>
            </a:r>
            <a:r>
              <a:rPr sz="2150" spc="350" dirty="0">
                <a:latin typeface="Times New Roman"/>
                <a:cs typeface="Times New Roman"/>
              </a:rPr>
              <a:t>  </a:t>
            </a:r>
            <a:r>
              <a:rPr sz="2150" spc="-25" dirty="0">
                <a:latin typeface="Times New Roman"/>
                <a:cs typeface="Times New Roman"/>
              </a:rPr>
              <a:t>and </a:t>
            </a:r>
            <a:r>
              <a:rPr sz="2150" dirty="0">
                <a:latin typeface="Times New Roman"/>
                <a:cs typeface="Times New Roman"/>
              </a:rPr>
              <a:t>productivity.</a:t>
            </a:r>
            <a:r>
              <a:rPr sz="2150" spc="32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Traditionally,</a:t>
            </a:r>
            <a:r>
              <a:rPr sz="2150" spc="35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poultry</a:t>
            </a:r>
            <a:r>
              <a:rPr sz="2150" spc="36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farmers</a:t>
            </a:r>
            <a:r>
              <a:rPr sz="2150" spc="36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rely</a:t>
            </a:r>
            <a:r>
              <a:rPr sz="2150" spc="34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on</a:t>
            </a:r>
            <a:r>
              <a:rPr sz="2150" spc="31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manual</a:t>
            </a:r>
            <a:r>
              <a:rPr sz="2150" spc="34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monitoring</a:t>
            </a:r>
            <a:r>
              <a:rPr sz="2150" spc="34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and</a:t>
            </a:r>
            <a:r>
              <a:rPr sz="2150" spc="315" dirty="0">
                <a:latin typeface="Times New Roman"/>
                <a:cs typeface="Times New Roman"/>
              </a:rPr>
              <a:t> </a:t>
            </a:r>
            <a:r>
              <a:rPr sz="2150" spc="-10" dirty="0">
                <a:latin typeface="Times New Roman"/>
                <a:cs typeface="Times New Roman"/>
              </a:rPr>
              <a:t>control </a:t>
            </a:r>
            <a:r>
              <a:rPr sz="2150" dirty="0">
                <a:latin typeface="Times New Roman"/>
                <a:cs typeface="Times New Roman"/>
              </a:rPr>
              <a:t>mechanisms,</a:t>
            </a:r>
            <a:r>
              <a:rPr sz="2150" spc="5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which</a:t>
            </a:r>
            <a:r>
              <a:rPr sz="2150" spc="6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are</a:t>
            </a:r>
            <a:r>
              <a:rPr sz="2150" spc="5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often</a:t>
            </a:r>
            <a:r>
              <a:rPr sz="2150" spc="5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inefficient</a:t>
            </a:r>
            <a:r>
              <a:rPr sz="2150" spc="5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and</a:t>
            </a:r>
            <a:r>
              <a:rPr sz="2150" spc="5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prone</a:t>
            </a:r>
            <a:r>
              <a:rPr sz="2150" spc="5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to</a:t>
            </a:r>
            <a:r>
              <a:rPr sz="2150" spc="7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human</a:t>
            </a:r>
            <a:r>
              <a:rPr sz="2150" spc="7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error.</a:t>
            </a:r>
            <a:r>
              <a:rPr sz="2150" spc="5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This</a:t>
            </a:r>
            <a:r>
              <a:rPr sz="2150" spc="50" dirty="0">
                <a:latin typeface="Times New Roman"/>
                <a:cs typeface="Times New Roman"/>
              </a:rPr>
              <a:t>  </a:t>
            </a:r>
            <a:r>
              <a:rPr sz="2150" spc="-10" dirty="0">
                <a:latin typeface="Times New Roman"/>
                <a:cs typeface="Times New Roman"/>
              </a:rPr>
              <a:t>study </a:t>
            </a:r>
            <a:r>
              <a:rPr sz="2150" dirty="0">
                <a:latin typeface="Times New Roman"/>
                <a:cs typeface="Times New Roman"/>
              </a:rPr>
              <a:t>introduces</a:t>
            </a:r>
            <a:r>
              <a:rPr sz="2150" spc="22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an</a:t>
            </a:r>
            <a:r>
              <a:rPr sz="2150" spc="22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AI-based</a:t>
            </a:r>
            <a:r>
              <a:rPr sz="2150" spc="22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automated</a:t>
            </a:r>
            <a:r>
              <a:rPr sz="2150" spc="21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temperature</a:t>
            </a:r>
            <a:r>
              <a:rPr sz="2150" spc="229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regulation</a:t>
            </a:r>
            <a:r>
              <a:rPr sz="2150" spc="25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system</a:t>
            </a:r>
            <a:r>
              <a:rPr sz="2150" spc="21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designed</a:t>
            </a:r>
            <a:r>
              <a:rPr sz="2150" spc="210" dirty="0">
                <a:latin typeface="Times New Roman"/>
                <a:cs typeface="Times New Roman"/>
              </a:rPr>
              <a:t>  </a:t>
            </a:r>
            <a:r>
              <a:rPr sz="2150" spc="-25" dirty="0">
                <a:latin typeface="Times New Roman"/>
                <a:cs typeface="Times New Roman"/>
              </a:rPr>
              <a:t>to </a:t>
            </a:r>
            <a:r>
              <a:rPr sz="2150" dirty="0">
                <a:latin typeface="Times New Roman"/>
                <a:cs typeface="Times New Roman"/>
              </a:rPr>
              <a:t>optimize</a:t>
            </a:r>
            <a:r>
              <a:rPr sz="2150" spc="24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environmental</a:t>
            </a:r>
            <a:r>
              <a:rPr sz="2150" spc="28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conditions,</a:t>
            </a:r>
            <a:r>
              <a:rPr sz="2150" spc="27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reduce</a:t>
            </a:r>
            <a:r>
              <a:rPr sz="2150" spc="27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energy</a:t>
            </a:r>
            <a:r>
              <a:rPr sz="2150" spc="254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consumption,</a:t>
            </a:r>
            <a:r>
              <a:rPr sz="2150" spc="24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and</a:t>
            </a:r>
            <a:r>
              <a:rPr sz="2150" spc="250" dirty="0">
                <a:latin typeface="Times New Roman"/>
                <a:cs typeface="Times New Roman"/>
              </a:rPr>
              <a:t>  </a:t>
            </a:r>
            <a:r>
              <a:rPr sz="2150" spc="-10" dirty="0">
                <a:latin typeface="Times New Roman"/>
                <a:cs typeface="Times New Roman"/>
              </a:rPr>
              <a:t>improve </a:t>
            </a:r>
            <a:r>
              <a:rPr sz="2150" dirty="0">
                <a:latin typeface="Times New Roman"/>
                <a:cs typeface="Times New Roman"/>
              </a:rPr>
              <a:t>poultry</a:t>
            </a:r>
            <a:r>
              <a:rPr sz="2150" spc="120" dirty="0">
                <a:latin typeface="Times New Roman"/>
                <a:cs typeface="Times New Roman"/>
              </a:rPr>
              <a:t> </a:t>
            </a:r>
            <a:r>
              <a:rPr sz="2150" spc="-10" dirty="0">
                <a:latin typeface="Times New Roman"/>
                <a:cs typeface="Times New Roman"/>
              </a:rPr>
              <a:t>welfare.</a:t>
            </a:r>
            <a:endParaRPr sz="21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82100" y="0"/>
            <a:ext cx="2643251" cy="27002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01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dirty="0">
                <a:latin typeface="Times New Roman"/>
                <a:cs typeface="Times New Roman"/>
              </a:rPr>
              <a:t>Literature</a:t>
            </a:r>
            <a:r>
              <a:rPr b="1" spc="-26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Review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826428538"/>
              </p:ext>
            </p:extLst>
          </p:nvPr>
        </p:nvGraphicFramePr>
        <p:xfrm>
          <a:off x="347979" y="1819275"/>
          <a:ext cx="11476990" cy="3827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4380"/>
                <a:gridCol w="3836035"/>
                <a:gridCol w="2295525"/>
                <a:gridCol w="2295525"/>
                <a:gridCol w="2295525"/>
              </a:tblGrid>
              <a:tr h="7188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S.NO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REFERENCE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OBJECTIVE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1083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1.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76835" indent="57150" algn="just">
                        <a:lnSpc>
                          <a:spcPct val="1002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Kiwoong</a:t>
                      </a:r>
                      <a:r>
                        <a:rPr sz="1800" spc="3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Kwon</a:t>
                      </a:r>
                      <a:r>
                        <a:rPr sz="1800" spc="48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800" spc="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Sanghak</a:t>
                      </a:r>
                      <a:r>
                        <a:rPr sz="1800" spc="4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Lee,</a:t>
                      </a:r>
                      <a:r>
                        <a:rPr sz="1800" spc="3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Sanghun</a:t>
                      </a:r>
                      <a:r>
                        <a:rPr sz="1800" spc="30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Kim</a:t>
                      </a:r>
                      <a:r>
                        <a:rPr sz="1800" spc="30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,“AI-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800" spc="29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Home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Energy</a:t>
                      </a:r>
                      <a:r>
                        <a:rPr sz="1800" spc="434" dirty="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Management</a:t>
                      </a:r>
                      <a:r>
                        <a:rPr sz="1800" spc="430" dirty="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System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Considering</a:t>
                      </a:r>
                      <a:r>
                        <a:rPr sz="1800" spc="32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Energy</a:t>
                      </a:r>
                      <a:r>
                        <a:rPr sz="1800" spc="31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Efficiency</a:t>
                      </a:r>
                      <a:r>
                        <a:rPr sz="1800" spc="31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Resident</a:t>
                      </a:r>
                      <a:r>
                        <a:rPr sz="1800" spc="425" dirty="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Satisfaction”,</a:t>
                      </a:r>
                      <a:r>
                        <a:rPr sz="1800" spc="425" dirty="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IEEE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INTERNET</a:t>
                      </a:r>
                      <a:r>
                        <a:rPr sz="1800" spc="2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3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THINGS</a:t>
                      </a:r>
                      <a:r>
                        <a:rPr sz="1800" spc="3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JOURNAL,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VOL.</a:t>
                      </a:r>
                      <a:r>
                        <a:rPr sz="1800" spc="37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9,</a:t>
                      </a:r>
                      <a:r>
                        <a:rPr sz="1800" spc="37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sz="1800" spc="37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1800" spc="37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JANUARY</a:t>
                      </a:r>
                      <a:r>
                        <a:rPr sz="1800" spc="34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15,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 algn="just">
                        <a:lnSpc>
                          <a:spcPts val="237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2022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(Base</a:t>
                      </a:r>
                      <a:r>
                        <a:rPr sz="20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Paper)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72390" algn="just">
                        <a:lnSpc>
                          <a:spcPct val="100299"/>
                        </a:lnSpc>
                        <a:spcBef>
                          <a:spcPts val="310"/>
                        </a:spcBef>
                        <a:tabLst>
                          <a:tab pos="1649095" algn="l"/>
                          <a:tab pos="1712595" algn="l"/>
                        </a:tabLst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2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paper</a:t>
                      </a:r>
                      <a:r>
                        <a:rPr sz="1800" spc="3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presents</a:t>
                      </a:r>
                      <a:r>
                        <a:rPr sz="1800" spc="3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AI-based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Home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Energy</a:t>
                      </a:r>
                      <a:r>
                        <a:rPr sz="1800" spc="22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Management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800" spc="425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(AI-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HEMS)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spc="3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optimizes</a:t>
                      </a:r>
                      <a:r>
                        <a:rPr sz="1800" spc="3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heating control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predictive</a:t>
                      </a:r>
                      <a:r>
                        <a:rPr sz="1800" spc="484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models,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achieving</a:t>
                      </a:r>
                      <a:r>
                        <a:rPr sz="1800" spc="2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14%</a:t>
                      </a:r>
                      <a:r>
                        <a:rPr sz="1800" spc="2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energy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5250" marR="78740" algn="just">
                        <a:lnSpc>
                          <a:spcPts val="21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savings</a:t>
                      </a:r>
                      <a:r>
                        <a:rPr sz="1800" spc="43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434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91%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resident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satisfaction.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collection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AI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algorithms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6520" marR="902335">
                        <a:lnSpc>
                          <a:spcPct val="1008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 baseline="0" dirty="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 smtClean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dirty="0" smtClean="0">
                          <a:latin typeface="Times New Roman"/>
                          <a:cs typeface="Times New Roman"/>
                        </a:rPr>
                        <a:t>Simulation</a:t>
                      </a:r>
                      <a:r>
                        <a:rPr sz="1800" spc="-5" dirty="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 smtClean="0">
                          <a:latin typeface="Times New Roman"/>
                          <a:cs typeface="Times New Roman"/>
                        </a:rPr>
                        <a:t>Testing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99060" marR="73025" algn="just">
                        <a:lnSpc>
                          <a:spcPct val="100099"/>
                        </a:lnSpc>
                        <a:spcBef>
                          <a:spcPts val="315"/>
                        </a:spcBef>
                        <a:tabLst>
                          <a:tab pos="1741170" algn="l"/>
                        </a:tabLst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800" spc="1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mainly</a:t>
                      </a:r>
                      <a:r>
                        <a:rPr sz="1800" spc="9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focuses</a:t>
                      </a:r>
                      <a:r>
                        <a:rPr sz="1800" spc="9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heating,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lacks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adaptation</a:t>
                      </a:r>
                      <a:r>
                        <a:rPr sz="1800" spc="1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12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shared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spaces,</a:t>
                      </a:r>
                      <a:r>
                        <a:rPr sz="1800" spc="7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7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relies</a:t>
                      </a:r>
                      <a:r>
                        <a:rPr sz="1800" spc="7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smartphone</a:t>
                      </a:r>
                      <a:r>
                        <a:rPr sz="1800" spc="3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800" spc="32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sleep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prediction.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30859" y="450850"/>
          <a:ext cx="11305539" cy="59543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7240"/>
                <a:gridCol w="3710304"/>
                <a:gridCol w="2272665"/>
                <a:gridCol w="2272665"/>
                <a:gridCol w="2272665"/>
              </a:tblGrid>
              <a:tr h="82041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S.NO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REFERENCE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OBJECTIVE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28752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2.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78105" algn="just">
                        <a:lnSpc>
                          <a:spcPct val="1008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CHANG</a:t>
                      </a:r>
                      <a:r>
                        <a:rPr sz="1800" spc="36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DENG1</a:t>
                      </a:r>
                      <a:r>
                        <a:rPr sz="1800" spc="36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800" spc="36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ARNAUD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PROUZEAU2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800" spc="4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3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CHRISTOPH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 marR="76835" algn="just">
                        <a:lnSpc>
                          <a:spcPct val="100099"/>
                        </a:lnSpc>
                        <a:spcBef>
                          <a:spcPts val="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BERGMEIR1,</a:t>
                      </a:r>
                      <a:r>
                        <a:rPr sz="1800" spc="114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“A</a:t>
                      </a:r>
                      <a:r>
                        <a:rPr sz="1800" spc="5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Generative</a:t>
                      </a:r>
                      <a:r>
                        <a:rPr sz="1800" spc="11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Deep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800" spc="23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Framework</a:t>
                      </a:r>
                      <a:r>
                        <a:rPr sz="1800" spc="23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800" spc="26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Series</a:t>
                      </a:r>
                      <a:r>
                        <a:rPr sz="1800" spc="215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20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Optimize</a:t>
                      </a:r>
                      <a:r>
                        <a:rPr sz="1800" spc="20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204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Energy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Consumption</a:t>
                      </a:r>
                      <a:r>
                        <a:rPr sz="1800" spc="3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31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Air</a:t>
                      </a:r>
                      <a:r>
                        <a:rPr sz="1800" spc="32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Conditioning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Systems”,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Date of</a:t>
                      </a:r>
                      <a:r>
                        <a:rPr sz="18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publication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January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11,</a:t>
                      </a:r>
                      <a:r>
                        <a:rPr sz="1800" spc="19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2022,</a:t>
                      </a:r>
                      <a:r>
                        <a:rPr sz="1800" spc="19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date</a:t>
                      </a:r>
                      <a:r>
                        <a:rPr sz="1800" spc="21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2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1800" spc="21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version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 algn="just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January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20,</a:t>
                      </a:r>
                      <a:r>
                        <a:rPr sz="1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2022.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71755" algn="just">
                        <a:lnSpc>
                          <a:spcPct val="100299"/>
                        </a:lnSpc>
                        <a:spcBef>
                          <a:spcPts val="295"/>
                        </a:spcBef>
                        <a:tabLst>
                          <a:tab pos="1435735" algn="l"/>
                          <a:tab pos="1567180" algn="l"/>
                          <a:tab pos="2007870" algn="l"/>
                        </a:tabLst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Develop</a:t>
                      </a:r>
                      <a:r>
                        <a:rPr sz="1800" spc="6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5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generative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learning framework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		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optimize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energy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consumption</a:t>
                      </a:r>
                      <a:r>
                        <a:rPr sz="1800" spc="19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5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air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conditioning</a:t>
                      </a:r>
                      <a:r>
                        <a:rPr sz="1800" spc="36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systems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time-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series</a:t>
                      </a:r>
                      <a:r>
                        <a:rPr sz="18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data.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4295" algn="just">
                        <a:lnSpc>
                          <a:spcPct val="100099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Implement</a:t>
                      </a:r>
                      <a:r>
                        <a:rPr sz="1800" spc="29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285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deep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8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8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trained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spc="245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historical</a:t>
                      </a:r>
                      <a:r>
                        <a:rPr sz="1800" spc="235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time-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series</a:t>
                      </a:r>
                      <a:r>
                        <a:rPr sz="1800" spc="4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800" spc="4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4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predict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375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optimize</a:t>
                      </a:r>
                      <a:r>
                        <a:rPr sz="1800" spc="40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AC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energy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usage.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67945" algn="just">
                        <a:lnSpc>
                          <a:spcPct val="100099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455" dirty="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framework’s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800" spc="26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depends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spc="1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800" spc="2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quality,</a:t>
                      </a:r>
                      <a:r>
                        <a:rPr sz="1800" spc="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sz="1800" spc="459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800" spc="45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generalize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well</a:t>
                      </a:r>
                      <a:r>
                        <a:rPr sz="1800" spc="415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415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unseen conditions.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</a:tr>
              <a:tr h="225869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3.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6995" algn="just">
                        <a:lnSpc>
                          <a:spcPct val="1008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SUNARDI,</a:t>
                      </a:r>
                      <a:r>
                        <a:rPr sz="1800" spc="39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ANTON</a:t>
                      </a:r>
                      <a:r>
                        <a:rPr sz="1800" spc="42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YUDHANA,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(Member,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IEEE),</a:t>
                      </a:r>
                      <a:r>
                        <a:rPr sz="1800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FURIZAL,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 marR="78740" algn="just">
                        <a:lnSpc>
                          <a:spcPct val="99700"/>
                        </a:lnSpc>
                        <a:spcBef>
                          <a:spcPts val="2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“Tsukamoto</a:t>
                      </a:r>
                      <a:r>
                        <a:rPr sz="1800" spc="3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Fuzzy</a:t>
                      </a:r>
                      <a:r>
                        <a:rPr sz="18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Inference</a:t>
                      </a:r>
                      <a:r>
                        <a:rPr sz="1800" spc="3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System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Internet</a:t>
                      </a:r>
                      <a:r>
                        <a:rPr sz="18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Things-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Room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Temperature</a:t>
                      </a:r>
                      <a:r>
                        <a:rPr sz="1800" spc="3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2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Humidity</a:t>
                      </a:r>
                      <a:r>
                        <a:rPr sz="1800" spc="3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Control”,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3,</a:t>
                      </a:r>
                      <a:r>
                        <a:rPr sz="1800" spc="14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Date</a:t>
                      </a:r>
                      <a:r>
                        <a:rPr sz="1800" spc="13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15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publication</a:t>
                      </a:r>
                      <a:r>
                        <a:rPr sz="1800" spc="15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11</a:t>
                      </a:r>
                      <a:r>
                        <a:rPr sz="1800" spc="15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January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2023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74930" algn="just">
                        <a:lnSpc>
                          <a:spcPct val="99900"/>
                        </a:lnSpc>
                        <a:spcBef>
                          <a:spcPts val="335"/>
                        </a:spcBef>
                        <a:tabLst>
                          <a:tab pos="1703070" algn="l"/>
                          <a:tab pos="1855470" algn="l"/>
                        </a:tabLst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Develop</a:t>
                      </a:r>
                      <a:r>
                        <a:rPr sz="1800" spc="475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47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fuzzy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inference</a:t>
                      </a:r>
                      <a:r>
                        <a:rPr sz="1800" spc="2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800" spc="21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IoT-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room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temperature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humidity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control.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0485">
                        <a:lnSpc>
                          <a:spcPct val="100099"/>
                        </a:lnSpc>
                        <a:spcBef>
                          <a:spcPts val="330"/>
                        </a:spcBef>
                        <a:tabLst>
                          <a:tab pos="894080" algn="l"/>
                          <a:tab pos="1029969" algn="l"/>
                          <a:tab pos="1602740" algn="l"/>
                          <a:tab pos="1640839" algn="l"/>
                        </a:tabLst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Utilize</a:t>
                      </a:r>
                      <a:r>
                        <a:rPr sz="1800" spc="3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fuzzy</a:t>
                      </a:r>
                      <a:r>
                        <a:rPr sz="1800" spc="4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logic</a:t>
                      </a:r>
                      <a:r>
                        <a:rPr sz="1800" spc="40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process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sensor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adjust environmental conditions dynamically.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71755" algn="just">
                        <a:lnSpc>
                          <a:spcPct val="99900"/>
                        </a:lnSpc>
                        <a:spcBef>
                          <a:spcPts val="3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12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800" spc="15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13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800" spc="47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depends</a:t>
                      </a:r>
                      <a:r>
                        <a:rPr sz="1800" spc="48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1800" spc="185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800" spc="19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quality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8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predefined</a:t>
                      </a:r>
                      <a:r>
                        <a:rPr sz="1800" spc="8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fuzzy rules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91795" y="376300"/>
          <a:ext cx="11395074" cy="6092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090"/>
                <a:gridCol w="3837940"/>
                <a:gridCol w="2279014"/>
                <a:gridCol w="2279015"/>
                <a:gridCol w="2279015"/>
              </a:tblGrid>
              <a:tr h="7429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REFERENCE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OBJECTIVE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26746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4.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67310" algn="just">
                        <a:lnSpc>
                          <a:spcPct val="100899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TEOH</a:t>
                      </a:r>
                      <a:r>
                        <a:rPr sz="1800" spc="3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JI</a:t>
                      </a:r>
                      <a:r>
                        <a:rPr sz="1800" spc="5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SHENG</a:t>
                      </a:r>
                      <a:r>
                        <a:rPr sz="1800" spc="19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800" spc="4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MOHAMMAD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SHAHIDUL</a:t>
                      </a:r>
                      <a:r>
                        <a:rPr sz="1800" spc="19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ISLAM</a:t>
                      </a:r>
                      <a:r>
                        <a:rPr sz="1800" spc="24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,NORBAHIAH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MISRAN</a:t>
                      </a:r>
                      <a:r>
                        <a:rPr sz="1800" spc="4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800" spc="42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MOHD</a:t>
                      </a:r>
                      <a:r>
                        <a:rPr sz="1800" spc="4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800" spc="-2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HAFIZ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BAHARUDDIN</a:t>
                      </a:r>
                      <a:r>
                        <a:rPr sz="1800" spc="39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800" spc="38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HASLINA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 algn="just">
                        <a:lnSpc>
                          <a:spcPts val="2100"/>
                        </a:lnSpc>
                      </a:pP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ARSHAD</a:t>
                      </a:r>
                      <a:r>
                        <a:rPr sz="1800" spc="2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800" spc="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“An</a:t>
                      </a:r>
                      <a:r>
                        <a:rPr sz="1800" spc="3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Internet</a:t>
                      </a:r>
                      <a:r>
                        <a:rPr sz="1800" spc="3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3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Things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 algn="just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800" spc="2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800" spc="2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Waste</a:t>
                      </a:r>
                      <a:r>
                        <a:rPr sz="1800" spc="24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Management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 marR="76200" algn="just">
                        <a:lnSpc>
                          <a:spcPct val="1008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800" spc="9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800" spc="1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LoRa</a:t>
                      </a:r>
                      <a:r>
                        <a:rPr sz="1800" spc="8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8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Tensorflow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800" spc="49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800" spc="49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Model”,</a:t>
                      </a:r>
                      <a:r>
                        <a:rPr sz="1800" spc="19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Date</a:t>
                      </a:r>
                      <a:r>
                        <a:rPr sz="1800" spc="49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publication</a:t>
                      </a:r>
                      <a:r>
                        <a:rPr sz="1800" spc="-8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August 12,</a:t>
                      </a:r>
                      <a:r>
                        <a:rPr sz="1800" spc="2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2020.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76200">
                        <a:lnSpc>
                          <a:spcPct val="100899"/>
                        </a:lnSpc>
                        <a:spcBef>
                          <a:spcPts val="280"/>
                        </a:spcBef>
                        <a:tabLst>
                          <a:tab pos="1671320" algn="l"/>
                        </a:tabLst>
                      </a:pP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Develop</a:t>
                      </a:r>
                      <a:r>
                        <a:rPr sz="1800" spc="36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800" spc="30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IoT-</a:t>
                      </a:r>
                      <a:r>
                        <a:rPr sz="1800" spc="-2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based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2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waste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5250" marR="75565">
                        <a:lnSpc>
                          <a:spcPct val="100800"/>
                        </a:lnSpc>
                        <a:tabLst>
                          <a:tab pos="1557020" algn="l"/>
                          <a:tab pos="1684020" algn="l"/>
                        </a:tabLst>
                      </a:pP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management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system using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sz="1800" spc="-2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LoRa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5250">
                        <a:lnSpc>
                          <a:spcPts val="2100"/>
                        </a:lnSpc>
                        <a:tabLst>
                          <a:tab pos="1861820" algn="l"/>
                        </a:tabLst>
                      </a:pP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communication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  <a:spcBef>
                          <a:spcPts val="15"/>
                        </a:spcBef>
                        <a:tabLst>
                          <a:tab pos="1760220" algn="l"/>
                        </a:tabLst>
                      </a:pP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TensorFlow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2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deep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5250" marR="78105">
                        <a:lnSpc>
                          <a:spcPct val="100800"/>
                        </a:lnSpc>
                        <a:spcBef>
                          <a:spcPts val="5"/>
                        </a:spcBef>
                        <a:tabLst>
                          <a:tab pos="1005840" algn="l"/>
                          <a:tab pos="1433195" algn="l"/>
                        </a:tabLst>
                      </a:pP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efficient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waste</a:t>
                      </a:r>
                      <a:r>
                        <a:rPr sz="1800" spc="-1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monitoring.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0485" algn="just">
                        <a:lnSpc>
                          <a:spcPct val="1004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Implement</a:t>
                      </a:r>
                      <a:r>
                        <a:rPr sz="1800" spc="36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800" spc="-2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LoRa-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enabled</a:t>
                      </a:r>
                      <a:r>
                        <a:rPr sz="1800" spc="23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sensors</a:t>
                      </a:r>
                      <a:r>
                        <a:rPr sz="1800" spc="25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spc="-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collect</a:t>
                      </a:r>
                      <a:r>
                        <a:rPr sz="1800" spc="23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waste</a:t>
                      </a:r>
                      <a:r>
                        <a:rPr sz="1800" spc="23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spc="-2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data,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process</a:t>
                      </a:r>
                      <a:r>
                        <a:rPr sz="1800" spc="44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800" spc="44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800" spc="45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5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TensorFlow</a:t>
                      </a:r>
                      <a:r>
                        <a:rPr sz="1800" spc="42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800" spc="-2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deep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800" spc="3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model,</a:t>
                      </a:r>
                      <a:r>
                        <a:rPr sz="1800" spc="3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optimize</a:t>
                      </a:r>
                      <a:r>
                        <a:rPr sz="1800" spc="32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collection routes.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69215" algn="just">
                        <a:lnSpc>
                          <a:spcPct val="100299"/>
                        </a:lnSpc>
                        <a:spcBef>
                          <a:spcPts val="290"/>
                        </a:spcBef>
                        <a:tabLst>
                          <a:tab pos="1674495" algn="l"/>
                          <a:tab pos="2018030" algn="l"/>
                        </a:tabLst>
                      </a:pP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800" spc="24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performance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relies</a:t>
                      </a:r>
                      <a:r>
                        <a:rPr sz="1800" spc="32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spc="3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sensor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accuracy,</a:t>
                      </a:r>
                      <a:r>
                        <a:rPr sz="1800" spc="48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network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coverage,</a:t>
                      </a:r>
                      <a:r>
                        <a:rPr sz="1800" spc="16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15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2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model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generalization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sz="1800" spc="-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different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2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waste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patterns.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</a:tr>
              <a:tr h="26746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5.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78105" algn="just">
                        <a:lnSpc>
                          <a:spcPct val="1008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CHIH-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YUAN</a:t>
                      </a:r>
                      <a:r>
                        <a:rPr sz="1800" spc="37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CHANG1</a:t>
                      </a:r>
                      <a:r>
                        <a:rPr sz="1800" spc="39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800" spc="39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SY-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JYE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GUO2</a:t>
                      </a:r>
                      <a:r>
                        <a:rPr sz="1800" spc="3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800" spc="3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SAN-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SHAN</a:t>
                      </a:r>
                      <a:r>
                        <a:rPr sz="1800" spc="3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HUNG3</a:t>
                      </a:r>
                      <a:r>
                        <a:rPr sz="1800" spc="3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800" spc="3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 marR="77470" algn="just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YI-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TING</a:t>
                      </a:r>
                      <a:r>
                        <a:rPr sz="1800" spc="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LIN,</a:t>
                      </a:r>
                      <a:r>
                        <a:rPr sz="1800" spc="2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“Performance</a:t>
                      </a:r>
                      <a:r>
                        <a:rPr sz="1800" spc="2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Analysis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Indoor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8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Environmental</a:t>
                      </a:r>
                      <a:r>
                        <a:rPr sz="18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Control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Factors:</a:t>
                      </a:r>
                      <a:r>
                        <a:rPr sz="1800" spc="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8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Temperature</a:t>
                      </a:r>
                      <a:r>
                        <a:rPr sz="18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Control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3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Rate</a:t>
                      </a:r>
                      <a:r>
                        <a:rPr sz="1800" spc="4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Formaldehyde</a:t>
                      </a:r>
                      <a:r>
                        <a:rPr sz="1800" spc="3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Emission.”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Date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publication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October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29,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2019.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76200" algn="just">
                        <a:lnSpc>
                          <a:spcPct val="100099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Propose</a:t>
                      </a:r>
                      <a:r>
                        <a:rPr sz="1800" spc="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800" spc="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IoT-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based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800" spc="2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800" spc="2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utilizing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LoRa</a:t>
                      </a:r>
                      <a:r>
                        <a:rPr sz="1800" spc="360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360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deep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800" spc="37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37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enhance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waste</a:t>
                      </a:r>
                      <a:r>
                        <a:rPr sz="1800" spc="345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management efficiency.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4295" algn="just">
                        <a:lnSpc>
                          <a:spcPct val="100299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Deploy</a:t>
                      </a:r>
                      <a:r>
                        <a:rPr sz="1800" spc="4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LoRa</a:t>
                      </a:r>
                      <a:r>
                        <a:rPr sz="1800" spc="4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sensors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4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collect</a:t>
                      </a:r>
                      <a:r>
                        <a:rPr sz="1800" spc="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waste</a:t>
                      </a:r>
                      <a:r>
                        <a:rPr sz="1800" spc="4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data,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analyze</a:t>
                      </a:r>
                      <a:r>
                        <a:rPr sz="1800" spc="215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800" spc="21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800" spc="215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TensorFlow</a:t>
                      </a:r>
                      <a:r>
                        <a:rPr sz="1800" spc="420" dirty="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deep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800" spc="3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model,</a:t>
                      </a:r>
                      <a:r>
                        <a:rPr sz="1800" spc="31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optimize</a:t>
                      </a:r>
                      <a:r>
                        <a:rPr sz="1800" spc="320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collection schedules.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69215" algn="just">
                        <a:lnSpc>
                          <a:spcPct val="100299"/>
                        </a:lnSpc>
                        <a:spcBef>
                          <a:spcPts val="320"/>
                        </a:spcBef>
                        <a:tabLst>
                          <a:tab pos="1430020" algn="l"/>
                          <a:tab pos="1674495" algn="l"/>
                        </a:tabLst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system's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effectiveness</a:t>
                      </a:r>
                      <a:r>
                        <a:rPr sz="1800" spc="13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depends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spc="2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1800" spc="24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reliability,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8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coverage,</a:t>
                      </a:r>
                      <a:r>
                        <a:rPr sz="18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800" spc="6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adaptability</a:t>
                      </a:r>
                      <a:r>
                        <a:rPr sz="1800" spc="6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varying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waste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patterns.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91795" y="387604"/>
          <a:ext cx="11395074" cy="6069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8670"/>
                <a:gridCol w="3769360"/>
                <a:gridCol w="2279015"/>
                <a:gridCol w="2279014"/>
                <a:gridCol w="2279015"/>
              </a:tblGrid>
              <a:tr h="777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REFERENCE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OBJECTIVE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26460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6.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0010" algn="just">
                        <a:lnSpc>
                          <a:spcPct val="1004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Alain</a:t>
                      </a:r>
                      <a:r>
                        <a:rPr sz="1800" spc="26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Martinez</a:t>
                      </a:r>
                      <a:r>
                        <a:rPr sz="1800" spc="26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800" spc="26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Erik</a:t>
                      </a:r>
                      <a:r>
                        <a:rPr sz="1800" spc="27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Hernandez-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Rodríguez,</a:t>
                      </a:r>
                      <a:r>
                        <a:rPr sz="1800" spc="15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Luis</a:t>
                      </a:r>
                      <a:r>
                        <a:rPr sz="1800" spc="17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Hernandez,</a:t>
                      </a:r>
                      <a:r>
                        <a:rPr sz="1800" spc="16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Olivier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Schalm,</a:t>
                      </a:r>
                      <a:r>
                        <a:rPr sz="1800" spc="4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“Design</a:t>
                      </a:r>
                      <a:r>
                        <a:rPr sz="1800" spc="409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4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43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800" spc="-2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Cost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800" spc="45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46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45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Measurement</a:t>
                      </a:r>
                      <a:r>
                        <a:rPr sz="1800" spc="46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3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Variables</a:t>
                      </a:r>
                      <a:r>
                        <a:rPr sz="1800" spc="36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Associated</a:t>
                      </a:r>
                      <a:r>
                        <a:rPr sz="1800" spc="37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800" spc="37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spc="-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Air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Quality”,</a:t>
                      </a:r>
                      <a:r>
                        <a:rPr sz="1800" spc="3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IEEE</a:t>
                      </a:r>
                      <a:r>
                        <a:rPr sz="1800" spc="32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EMBEDDED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sz="1800" spc="14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LETTERS,</a:t>
                      </a:r>
                      <a:r>
                        <a:rPr sz="1800" spc="15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VOL.</a:t>
                      </a:r>
                      <a:r>
                        <a:rPr sz="1800" spc="18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15,</a:t>
                      </a:r>
                      <a:r>
                        <a:rPr sz="1800" spc="18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NO.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JUNE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2023.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79375" algn="just">
                        <a:lnSpc>
                          <a:spcPct val="1008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15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develop</a:t>
                      </a:r>
                      <a:r>
                        <a:rPr sz="1800" spc="15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15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800" spc="-2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cost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800" spc="49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484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measuring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air</a:t>
                      </a:r>
                      <a:r>
                        <a:rPr sz="1800" spc="3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sz="1800" spc="3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variables efficiently.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0485" algn="just">
                        <a:lnSpc>
                          <a:spcPct val="100099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37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800" spc="4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integrates low-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800" spc="13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sensors</a:t>
                      </a:r>
                      <a:r>
                        <a:rPr sz="1800" spc="15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microcontrollers</a:t>
                      </a:r>
                      <a:r>
                        <a:rPr sz="1800" spc="34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800" spc="-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collect,</a:t>
                      </a:r>
                      <a:r>
                        <a:rPr sz="1800" spc="24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process,</a:t>
                      </a:r>
                      <a:r>
                        <a:rPr sz="1800" spc="24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transmit</a:t>
                      </a:r>
                      <a:r>
                        <a:rPr sz="1800" spc="459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air</a:t>
                      </a:r>
                      <a:r>
                        <a:rPr sz="1800" spc="47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quality data.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74930" algn="just">
                        <a:lnSpc>
                          <a:spcPct val="100899"/>
                        </a:lnSpc>
                        <a:spcBef>
                          <a:spcPts val="280"/>
                        </a:spcBef>
                        <a:tabLst>
                          <a:tab pos="1966595" algn="l"/>
                        </a:tabLst>
                      </a:pP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34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800" spc="40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37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low-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800" spc="114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sensors</a:t>
                      </a:r>
                      <a:r>
                        <a:rPr sz="1800" spc="13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sz="1800" spc="13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be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affected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by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8425" marR="72390">
                        <a:lnSpc>
                          <a:spcPct val="99100"/>
                        </a:lnSpc>
                        <a:spcBef>
                          <a:spcPts val="35"/>
                        </a:spcBef>
                        <a:tabLst>
                          <a:tab pos="1864995" algn="l"/>
                        </a:tabLst>
                      </a:pP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environmental conditions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calibration</a:t>
                      </a:r>
                      <a:r>
                        <a:rPr sz="1800" spc="-2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challenges.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</a:tr>
              <a:tr h="26460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7.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76835" algn="just">
                        <a:lnSpc>
                          <a:spcPct val="100299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Kgoputjo</a:t>
                      </a:r>
                      <a:r>
                        <a:rPr sz="1800" spc="15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Simon</a:t>
                      </a:r>
                      <a:r>
                        <a:rPr sz="1800" spc="16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Elvis</a:t>
                      </a:r>
                      <a:r>
                        <a:rPr sz="1800" spc="17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Phala,</a:t>
                      </a:r>
                      <a:r>
                        <a:rPr sz="1800" spc="17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Anuj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Kumar,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Gerhard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P.</a:t>
                      </a:r>
                      <a:r>
                        <a:rPr sz="1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Hancke,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Senior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Member,</a:t>
                      </a:r>
                      <a:r>
                        <a:rPr sz="1800" spc="280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IEEE,</a:t>
                      </a:r>
                      <a:r>
                        <a:rPr sz="1800" spc="275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“Air</a:t>
                      </a:r>
                      <a:r>
                        <a:rPr sz="1800" spc="270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Quality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sz="1800" spc="260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800" spc="495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800" spc="484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ISO/IEC/IEEE</a:t>
                      </a:r>
                      <a:r>
                        <a:rPr sz="1800" spc="325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21451</a:t>
                      </a:r>
                      <a:r>
                        <a:rPr sz="1800" spc="32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Standards”,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IEEE</a:t>
                      </a:r>
                      <a:r>
                        <a:rPr sz="1800" spc="15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SENSORS</a:t>
                      </a:r>
                      <a:r>
                        <a:rPr sz="1800" spc="14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JOURNAL,</a:t>
                      </a:r>
                      <a:r>
                        <a:rPr sz="1800" spc="15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VOL.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16,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12,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JUNE 15,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2016.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76200" algn="just">
                        <a:lnSpc>
                          <a:spcPct val="100899"/>
                        </a:lnSpc>
                        <a:spcBef>
                          <a:spcPts val="305"/>
                        </a:spcBef>
                        <a:tabLst>
                          <a:tab pos="1963420" algn="l"/>
                        </a:tabLst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Develop</a:t>
                      </a:r>
                      <a:r>
                        <a:rPr sz="1800" spc="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8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air</a:t>
                      </a:r>
                      <a:r>
                        <a:rPr sz="1800" spc="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quality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sz="1800" spc="420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system based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5250" algn="just">
                        <a:lnSpc>
                          <a:spcPts val="213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ISO/IEC/IEEE</a:t>
                      </a:r>
                      <a:r>
                        <a:rPr sz="1800" spc="18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21451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5250" marR="81915">
                        <a:lnSpc>
                          <a:spcPts val="2180"/>
                        </a:lnSpc>
                        <a:spcBef>
                          <a:spcPts val="2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standards</a:t>
                      </a:r>
                      <a:r>
                        <a:rPr sz="1800" spc="3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3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accurate environmental assessment.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3025">
                        <a:lnSpc>
                          <a:spcPct val="100099"/>
                        </a:lnSpc>
                        <a:spcBef>
                          <a:spcPts val="325"/>
                        </a:spcBef>
                        <a:tabLst>
                          <a:tab pos="1036955" algn="l"/>
                          <a:tab pos="1177290" algn="l"/>
                          <a:tab pos="1583690" algn="l"/>
                        </a:tabLst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Utilize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standardized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800" spc="3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transducers</a:t>
                      </a:r>
                      <a:r>
                        <a:rPr sz="1800" spc="3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communication protocols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collect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analyze</a:t>
                      </a:r>
                      <a:r>
                        <a:rPr sz="18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air</a:t>
                      </a:r>
                      <a:r>
                        <a:rPr sz="18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quality data.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71120">
                        <a:lnSpc>
                          <a:spcPct val="100099"/>
                        </a:lnSpc>
                        <a:spcBef>
                          <a:spcPts val="325"/>
                        </a:spcBef>
                        <a:tabLst>
                          <a:tab pos="1038860" algn="l"/>
                          <a:tab pos="1178560" algn="l"/>
                          <a:tab pos="1585595" algn="l"/>
                        </a:tabLst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Utilize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standardized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800" spc="3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transducers</a:t>
                      </a:r>
                      <a:r>
                        <a:rPr sz="1800" spc="3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communication protocols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collect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analyze</a:t>
                      </a:r>
                      <a:r>
                        <a:rPr sz="18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air</a:t>
                      </a:r>
                      <a:r>
                        <a:rPr sz="18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quality data.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497205">
              <a:lnSpc>
                <a:spcPct val="100000"/>
              </a:lnSpc>
              <a:spcBef>
                <a:spcPts val="130"/>
              </a:spcBef>
            </a:pPr>
            <a:r>
              <a:rPr b="1" dirty="0">
                <a:latin typeface="Times New Roman"/>
                <a:cs typeface="Times New Roman"/>
              </a:rPr>
              <a:t>Existing</a:t>
            </a:r>
            <a:r>
              <a:rPr b="1" spc="-14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System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7947" y="1272272"/>
            <a:ext cx="7412782" cy="489956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34464" y="314178"/>
            <a:ext cx="2471872" cy="29212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454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30"/>
              </a:spcBef>
            </a:pPr>
            <a:r>
              <a:rPr b="1" dirty="0">
                <a:latin typeface="Times New Roman"/>
                <a:cs typeface="Times New Roman"/>
              </a:rPr>
              <a:t>Proposed</a:t>
            </a:r>
            <a:r>
              <a:rPr b="1" spc="-22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System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153334" y="256763"/>
            <a:ext cx="2734310" cy="2515870"/>
            <a:chOff x="9153334" y="256763"/>
            <a:chExt cx="2734310" cy="25158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53334" y="256763"/>
              <a:ext cx="2734055" cy="251542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48799" y="561975"/>
              <a:ext cx="2152650" cy="19240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404349" y="515239"/>
              <a:ext cx="2241550" cy="2015489"/>
            </a:xfrm>
            <a:custGeom>
              <a:avLst/>
              <a:gdLst/>
              <a:ahLst/>
              <a:cxnLst/>
              <a:rect l="l" t="t" r="r" b="b"/>
              <a:pathLst>
                <a:path w="2241550" h="2015489">
                  <a:moveTo>
                    <a:pt x="409575" y="0"/>
                  </a:moveTo>
                  <a:lnTo>
                    <a:pt x="409575" y="2286"/>
                  </a:lnTo>
                  <a:lnTo>
                    <a:pt x="2241550" y="2286"/>
                  </a:lnTo>
                  <a:lnTo>
                    <a:pt x="2241550" y="1651253"/>
                  </a:lnTo>
                  <a:lnTo>
                    <a:pt x="2234183" y="1723644"/>
                  </a:lnTo>
                  <a:lnTo>
                    <a:pt x="2212848" y="1792224"/>
                  </a:lnTo>
                  <a:lnTo>
                    <a:pt x="2179193" y="1854327"/>
                  </a:lnTo>
                  <a:lnTo>
                    <a:pt x="2134616" y="1908302"/>
                  </a:lnTo>
                  <a:lnTo>
                    <a:pt x="2080641" y="1952878"/>
                  </a:lnTo>
                  <a:lnTo>
                    <a:pt x="2018538" y="1986534"/>
                  </a:lnTo>
                  <a:lnTo>
                    <a:pt x="1949957" y="2007870"/>
                  </a:lnTo>
                  <a:lnTo>
                    <a:pt x="1877568" y="2015236"/>
                  </a:lnTo>
                  <a:lnTo>
                    <a:pt x="0" y="2015236"/>
                  </a:lnTo>
                  <a:lnTo>
                    <a:pt x="0" y="366268"/>
                  </a:lnTo>
                  <a:lnTo>
                    <a:pt x="1777" y="330200"/>
                  </a:lnTo>
                  <a:lnTo>
                    <a:pt x="16382" y="258825"/>
                  </a:lnTo>
                  <a:lnTo>
                    <a:pt x="44069" y="193294"/>
                  </a:lnTo>
                  <a:lnTo>
                    <a:pt x="83311" y="135127"/>
                  </a:lnTo>
                  <a:lnTo>
                    <a:pt x="132842" y="85598"/>
                  </a:lnTo>
                  <a:lnTo>
                    <a:pt x="191007" y="46355"/>
                  </a:lnTo>
                  <a:lnTo>
                    <a:pt x="256540" y="18669"/>
                  </a:lnTo>
                  <a:lnTo>
                    <a:pt x="327914" y="4063"/>
                  </a:lnTo>
                  <a:lnTo>
                    <a:pt x="409575" y="0"/>
                  </a:lnTo>
                  <a:close/>
                </a:path>
              </a:pathLst>
            </a:custGeom>
            <a:ln w="88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Picture 7" descr="IMG-20250527-WA00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968" y="1071546"/>
            <a:ext cx="7572429" cy="54292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5037" y="1136014"/>
            <a:ext cx="349377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dirty="0">
                <a:latin typeface="Times New Roman"/>
                <a:cs typeface="Times New Roman"/>
              </a:rPr>
              <a:t>System</a:t>
            </a:r>
            <a:r>
              <a:rPr b="1" spc="-9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2630" y="2720911"/>
            <a:ext cx="10293350" cy="31292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b="1" dirty="0">
                <a:latin typeface="Times New Roman"/>
                <a:cs typeface="Times New Roman"/>
              </a:rPr>
              <a:t>AI-Driven</a:t>
            </a:r>
            <a:r>
              <a:rPr sz="2750" b="1" spc="180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Environmental</a:t>
            </a:r>
            <a:r>
              <a:rPr sz="2750" b="1" spc="170" dirty="0">
                <a:latin typeface="Times New Roman"/>
                <a:cs typeface="Times New Roman"/>
              </a:rPr>
              <a:t> </a:t>
            </a:r>
            <a:r>
              <a:rPr sz="2750" b="1" spc="-10" dirty="0">
                <a:latin typeface="Times New Roman"/>
                <a:cs typeface="Times New Roman"/>
              </a:rPr>
              <a:t>Control</a:t>
            </a: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30"/>
              </a:spcBef>
            </a:pPr>
            <a:endParaRPr sz="2750">
              <a:latin typeface="Times New Roman"/>
              <a:cs typeface="Times New Roman"/>
            </a:endParaRPr>
          </a:p>
          <a:p>
            <a:pPr marL="241300" marR="6350" indent="-228600" algn="just">
              <a:lnSpc>
                <a:spcPct val="92200"/>
              </a:lnSpc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Times New Roman"/>
                <a:cs typeface="Times New Roman"/>
              </a:rPr>
              <a:t>Inspired</a:t>
            </a:r>
            <a:r>
              <a:rPr sz="2750" spc="27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by</a:t>
            </a:r>
            <a:r>
              <a:rPr sz="2750" spc="28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AI-HEMS,</a:t>
            </a:r>
            <a:r>
              <a:rPr sz="2750" spc="30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31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system</a:t>
            </a:r>
            <a:r>
              <a:rPr sz="2750" spc="26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derives</a:t>
            </a:r>
            <a:r>
              <a:rPr sz="2750" spc="32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optimal</a:t>
            </a:r>
            <a:r>
              <a:rPr sz="2750" spc="27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temperature</a:t>
            </a:r>
            <a:r>
              <a:rPr sz="2750" spc="28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levels </a:t>
            </a:r>
            <a:r>
              <a:rPr sz="2750" dirty="0">
                <a:latin typeface="Times New Roman"/>
                <a:cs typeface="Times New Roman"/>
              </a:rPr>
              <a:t>using</a:t>
            </a:r>
            <a:r>
              <a:rPr sz="2750" spc="15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machine  learning</a:t>
            </a:r>
            <a:r>
              <a:rPr sz="2750" spc="68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models</a:t>
            </a:r>
            <a:r>
              <a:rPr sz="2750" spc="15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trained</a:t>
            </a:r>
            <a:r>
              <a:rPr sz="2750" spc="10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on</a:t>
            </a:r>
            <a:r>
              <a:rPr sz="2750" spc="68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historical</a:t>
            </a:r>
            <a:r>
              <a:rPr sz="2750" spc="15" dirty="0">
                <a:latin typeface="Times New Roman"/>
                <a:cs typeface="Times New Roman"/>
              </a:rPr>
              <a:t>  </a:t>
            </a:r>
            <a:r>
              <a:rPr sz="2750" spc="-10" dirty="0">
                <a:latin typeface="Times New Roman"/>
                <a:cs typeface="Times New Roman"/>
              </a:rPr>
              <a:t>environmental </a:t>
            </a:r>
            <a:r>
              <a:rPr sz="2750" dirty="0">
                <a:latin typeface="Times New Roman"/>
                <a:cs typeface="Times New Roman"/>
              </a:rPr>
              <a:t>data</a:t>
            </a:r>
            <a:r>
              <a:rPr sz="2750" spc="4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and</a:t>
            </a:r>
            <a:r>
              <a:rPr sz="2750" spc="12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poultry</a:t>
            </a:r>
            <a:r>
              <a:rPr sz="2750" spc="12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behavior</a:t>
            </a:r>
            <a:r>
              <a:rPr sz="2750" spc="10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patterns.</a:t>
            </a:r>
            <a:endParaRPr sz="275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010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  <a:tab pos="329565" algn="l"/>
              </a:tabLst>
            </a:pPr>
            <a:r>
              <a:rPr sz="2750" dirty="0">
                <a:latin typeface="Times New Roman"/>
                <a:cs typeface="Times New Roman"/>
              </a:rPr>
              <a:t>	Predictive</a:t>
            </a:r>
            <a:r>
              <a:rPr sz="2750" spc="390" dirty="0">
                <a:latin typeface="Times New Roman"/>
                <a:cs typeface="Times New Roman"/>
              </a:rPr>
              <a:t>   </a:t>
            </a:r>
            <a:r>
              <a:rPr sz="2750" dirty="0">
                <a:latin typeface="Times New Roman"/>
                <a:cs typeface="Times New Roman"/>
              </a:rPr>
              <a:t>analytics</a:t>
            </a:r>
            <a:r>
              <a:rPr sz="2750" spc="390" dirty="0">
                <a:latin typeface="Times New Roman"/>
                <a:cs typeface="Times New Roman"/>
              </a:rPr>
              <a:t>   </a:t>
            </a:r>
            <a:r>
              <a:rPr sz="2750" dirty="0">
                <a:latin typeface="Times New Roman"/>
                <a:cs typeface="Times New Roman"/>
              </a:rPr>
              <a:t>help</a:t>
            </a:r>
            <a:r>
              <a:rPr sz="2750" spc="380" dirty="0">
                <a:latin typeface="Times New Roman"/>
                <a:cs typeface="Times New Roman"/>
              </a:rPr>
              <a:t>   </a:t>
            </a:r>
            <a:r>
              <a:rPr sz="2750" dirty="0">
                <a:latin typeface="Times New Roman"/>
                <a:cs typeface="Times New Roman"/>
              </a:rPr>
              <a:t>regulate</a:t>
            </a:r>
            <a:r>
              <a:rPr sz="2750" spc="375" dirty="0">
                <a:latin typeface="Times New Roman"/>
                <a:cs typeface="Times New Roman"/>
              </a:rPr>
              <a:t>   </a:t>
            </a:r>
            <a:r>
              <a:rPr sz="2750" dirty="0">
                <a:latin typeface="Times New Roman"/>
                <a:cs typeface="Times New Roman"/>
              </a:rPr>
              <a:t>temperature</a:t>
            </a:r>
            <a:r>
              <a:rPr sz="2750" spc="385" dirty="0">
                <a:latin typeface="Times New Roman"/>
                <a:cs typeface="Times New Roman"/>
              </a:rPr>
              <a:t>   </a:t>
            </a:r>
            <a:r>
              <a:rPr sz="2750" spc="-10" dirty="0">
                <a:latin typeface="Times New Roman"/>
                <a:cs typeface="Times New Roman"/>
              </a:rPr>
              <a:t>dynamically, </a:t>
            </a:r>
            <a:r>
              <a:rPr sz="2750" dirty="0">
                <a:latin typeface="Times New Roman"/>
                <a:cs typeface="Times New Roman"/>
              </a:rPr>
              <a:t>preventing</a:t>
            </a:r>
            <a:r>
              <a:rPr sz="2750" spc="7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heat</a:t>
            </a:r>
            <a:r>
              <a:rPr sz="2750" spc="6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stress</a:t>
            </a:r>
            <a:r>
              <a:rPr sz="2750" spc="13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or</a:t>
            </a:r>
            <a:r>
              <a:rPr sz="2750" spc="7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cold</a:t>
            </a:r>
            <a:r>
              <a:rPr sz="2750" spc="7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exposure.</a:t>
            </a:r>
            <a:endParaRPr sz="275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410575" y="400050"/>
            <a:ext cx="2491105" cy="5424805"/>
            <a:chOff x="8410575" y="400050"/>
            <a:chExt cx="2491105" cy="54248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10575" y="3076511"/>
              <a:ext cx="2490851" cy="274802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39150" y="400050"/>
              <a:ext cx="2438400" cy="26955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0635" y="1562988"/>
            <a:ext cx="587565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spc="-95" dirty="0">
                <a:latin typeface="Times New Roman"/>
                <a:cs typeface="Times New Roman"/>
              </a:rPr>
              <a:t>IoT-</a:t>
            </a:r>
            <a:r>
              <a:rPr sz="3600" b="1" dirty="0">
                <a:latin typeface="Times New Roman"/>
                <a:cs typeface="Times New Roman"/>
              </a:rPr>
              <a:t>Based</a:t>
            </a:r>
            <a:r>
              <a:rPr sz="3600" b="1" spc="-4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Monitoring</a:t>
            </a:r>
            <a:r>
              <a:rPr sz="3600" b="1" spc="-40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System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9099" y="3171653"/>
            <a:ext cx="3462502" cy="19480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70635" y="2932747"/>
            <a:ext cx="7602220" cy="222694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5600" marR="5080" indent="-343535" algn="just">
              <a:lnSpc>
                <a:spcPct val="825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Times New Roman"/>
                <a:cs typeface="Times New Roman"/>
              </a:rPr>
              <a:t>The</a:t>
            </a:r>
            <a:r>
              <a:rPr sz="2150" spc="434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system</a:t>
            </a:r>
            <a:r>
              <a:rPr sz="2150" spc="45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employs</a:t>
            </a:r>
            <a:r>
              <a:rPr sz="2150" spc="459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IoT</a:t>
            </a:r>
            <a:r>
              <a:rPr sz="2150" spc="42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sensors</a:t>
            </a:r>
            <a:r>
              <a:rPr sz="2150" spc="45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such</a:t>
            </a:r>
            <a:r>
              <a:rPr sz="2150" spc="46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as</a:t>
            </a:r>
            <a:r>
              <a:rPr sz="2150" spc="45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DHT22</a:t>
            </a:r>
            <a:r>
              <a:rPr sz="2150" spc="445" dirty="0">
                <a:latin typeface="Times New Roman"/>
                <a:cs typeface="Times New Roman"/>
              </a:rPr>
              <a:t>  </a:t>
            </a:r>
            <a:r>
              <a:rPr sz="2150" spc="-25" dirty="0">
                <a:latin typeface="Times New Roman"/>
                <a:cs typeface="Times New Roman"/>
              </a:rPr>
              <a:t>for </a:t>
            </a:r>
            <a:r>
              <a:rPr sz="2150" dirty="0">
                <a:latin typeface="Times New Roman"/>
                <a:cs typeface="Times New Roman"/>
              </a:rPr>
              <a:t>temperature</a:t>
            </a:r>
            <a:r>
              <a:rPr sz="2150" spc="11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and</a:t>
            </a:r>
            <a:r>
              <a:rPr sz="2150" spc="8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humidity</a:t>
            </a:r>
            <a:r>
              <a:rPr sz="2150" spc="11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detection,</a:t>
            </a:r>
            <a:r>
              <a:rPr sz="2150" spc="7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MQ-135</a:t>
            </a:r>
            <a:r>
              <a:rPr sz="2150" spc="11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for</a:t>
            </a:r>
            <a:r>
              <a:rPr sz="2150" spc="7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air</a:t>
            </a:r>
            <a:r>
              <a:rPr sz="2150" spc="100" dirty="0">
                <a:latin typeface="Times New Roman"/>
                <a:cs typeface="Times New Roman"/>
              </a:rPr>
              <a:t>  </a:t>
            </a:r>
            <a:r>
              <a:rPr sz="2150" spc="-10" dirty="0">
                <a:latin typeface="Times New Roman"/>
                <a:cs typeface="Times New Roman"/>
              </a:rPr>
              <a:t>quality </a:t>
            </a:r>
            <a:r>
              <a:rPr sz="2150" dirty="0">
                <a:latin typeface="Times New Roman"/>
                <a:cs typeface="Times New Roman"/>
              </a:rPr>
              <a:t>monitoring,</a:t>
            </a:r>
            <a:r>
              <a:rPr sz="2150" spc="38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and</a:t>
            </a:r>
            <a:r>
              <a:rPr sz="2150" spc="38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ESP8266</a:t>
            </a:r>
            <a:r>
              <a:rPr sz="2150" spc="409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micro</a:t>
            </a:r>
            <a:r>
              <a:rPr sz="2150" spc="40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controller</a:t>
            </a:r>
            <a:r>
              <a:rPr sz="2150" spc="45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for</a:t>
            </a:r>
            <a:r>
              <a:rPr sz="2150" spc="37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data</a:t>
            </a:r>
            <a:r>
              <a:rPr sz="2150" spc="385" dirty="0">
                <a:latin typeface="Times New Roman"/>
                <a:cs typeface="Times New Roman"/>
              </a:rPr>
              <a:t> </a:t>
            </a:r>
            <a:r>
              <a:rPr sz="2150" spc="-10" dirty="0">
                <a:latin typeface="Times New Roman"/>
                <a:cs typeface="Times New Roman"/>
              </a:rPr>
              <a:t>processing </a:t>
            </a:r>
            <a:r>
              <a:rPr sz="2150" dirty="0">
                <a:latin typeface="Times New Roman"/>
                <a:cs typeface="Times New Roman"/>
              </a:rPr>
              <a:t>and</a:t>
            </a:r>
            <a:r>
              <a:rPr sz="2150" spc="65" dirty="0">
                <a:latin typeface="Times New Roman"/>
                <a:cs typeface="Times New Roman"/>
              </a:rPr>
              <a:t> </a:t>
            </a:r>
            <a:r>
              <a:rPr sz="2150" spc="-10" dirty="0">
                <a:latin typeface="Times New Roman"/>
                <a:cs typeface="Times New Roman"/>
              </a:rPr>
              <a:t>communication.</a:t>
            </a:r>
            <a:endParaRPr sz="2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0"/>
              </a:spcBef>
              <a:buFont typeface="Arial MT"/>
              <a:buChar char="•"/>
            </a:pPr>
            <a:endParaRPr sz="2150">
              <a:latin typeface="Times New Roman"/>
              <a:cs typeface="Times New Roman"/>
            </a:endParaRPr>
          </a:p>
          <a:p>
            <a:pPr marL="355600" marR="10795" indent="-343535" algn="just">
              <a:lnSpc>
                <a:spcPts val="2100"/>
              </a:lnSpc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Times New Roman"/>
                <a:cs typeface="Times New Roman"/>
              </a:rPr>
              <a:t>These</a:t>
            </a:r>
            <a:r>
              <a:rPr sz="2150" spc="17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sensors</a:t>
            </a:r>
            <a:r>
              <a:rPr sz="2150" spc="14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continuously</a:t>
            </a:r>
            <a:r>
              <a:rPr sz="2150" spc="16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collect</a:t>
            </a:r>
            <a:r>
              <a:rPr sz="2150" spc="17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real-time</a:t>
            </a:r>
            <a:r>
              <a:rPr sz="2150" spc="17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data</a:t>
            </a:r>
            <a:r>
              <a:rPr sz="2150" spc="14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and</a:t>
            </a:r>
            <a:r>
              <a:rPr sz="2150" spc="13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transmit</a:t>
            </a:r>
            <a:r>
              <a:rPr sz="2150" spc="170" dirty="0">
                <a:latin typeface="Times New Roman"/>
                <a:cs typeface="Times New Roman"/>
              </a:rPr>
              <a:t> </a:t>
            </a:r>
            <a:r>
              <a:rPr sz="2150" spc="-25" dirty="0">
                <a:latin typeface="Times New Roman"/>
                <a:cs typeface="Times New Roman"/>
              </a:rPr>
              <a:t>it </a:t>
            </a:r>
            <a:r>
              <a:rPr sz="2150" dirty="0">
                <a:latin typeface="Times New Roman"/>
                <a:cs typeface="Times New Roman"/>
              </a:rPr>
              <a:t>to</a:t>
            </a:r>
            <a:r>
              <a:rPr sz="2150" spc="10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a</a:t>
            </a:r>
            <a:r>
              <a:rPr sz="2150" spc="9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cloud-based</a:t>
            </a:r>
            <a:r>
              <a:rPr sz="2150" spc="10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platform</a:t>
            </a:r>
            <a:r>
              <a:rPr sz="2150" spc="13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for</a:t>
            </a:r>
            <a:r>
              <a:rPr sz="2150" spc="60" dirty="0">
                <a:latin typeface="Times New Roman"/>
                <a:cs typeface="Times New Roman"/>
              </a:rPr>
              <a:t> </a:t>
            </a:r>
            <a:r>
              <a:rPr sz="2150" spc="-10" dirty="0">
                <a:latin typeface="Times New Roman"/>
                <a:cs typeface="Times New Roman"/>
              </a:rPr>
              <a:t>analysis.</a:t>
            </a:r>
            <a:endParaRPr sz="2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4386" y="1796414"/>
            <a:ext cx="639381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dirty="0">
                <a:latin typeface="Times New Roman"/>
                <a:cs typeface="Times New Roman"/>
              </a:rPr>
              <a:t>Automated</a:t>
            </a:r>
            <a:r>
              <a:rPr sz="3600" b="1" spc="-10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Control</a:t>
            </a:r>
            <a:r>
              <a:rPr sz="3600" b="1" spc="-65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Mechanisms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3922" y="2552614"/>
            <a:ext cx="3300529" cy="25497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64386" y="2970847"/>
            <a:ext cx="7040880" cy="169291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5600" marR="5080" indent="-343535" algn="just">
              <a:lnSpc>
                <a:spcPct val="91700"/>
              </a:lnSpc>
              <a:spcBef>
                <a:spcPts val="34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Times New Roman"/>
                <a:cs typeface="Times New Roman"/>
              </a:rPr>
              <a:t>Based</a:t>
            </a:r>
            <a:r>
              <a:rPr sz="2150" spc="18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on</a:t>
            </a:r>
            <a:r>
              <a:rPr sz="2150" spc="18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sensor</a:t>
            </a:r>
            <a:r>
              <a:rPr sz="2150" spc="20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data</a:t>
            </a:r>
            <a:r>
              <a:rPr sz="2150" spc="18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and</a:t>
            </a:r>
            <a:r>
              <a:rPr sz="2150" spc="18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AI</a:t>
            </a:r>
            <a:r>
              <a:rPr sz="2150" spc="20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predictions,</a:t>
            </a:r>
            <a:r>
              <a:rPr sz="2150" spc="20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the</a:t>
            </a:r>
            <a:r>
              <a:rPr sz="2150" spc="190" dirty="0">
                <a:latin typeface="Times New Roman"/>
                <a:cs typeface="Times New Roman"/>
              </a:rPr>
              <a:t>  </a:t>
            </a:r>
            <a:r>
              <a:rPr sz="2150" spc="-10" dirty="0">
                <a:latin typeface="Times New Roman"/>
                <a:cs typeface="Times New Roman"/>
              </a:rPr>
              <a:t>system </a:t>
            </a:r>
            <a:r>
              <a:rPr sz="2150" dirty="0">
                <a:latin typeface="Times New Roman"/>
                <a:cs typeface="Times New Roman"/>
              </a:rPr>
              <a:t>automatically</a:t>
            </a:r>
            <a:r>
              <a:rPr sz="2150" spc="29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adjusts</a:t>
            </a:r>
            <a:r>
              <a:rPr sz="2150" spc="28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ventilation,</a:t>
            </a:r>
            <a:r>
              <a:rPr sz="2150" spc="27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heating,</a:t>
            </a:r>
            <a:r>
              <a:rPr sz="2150" spc="30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and</a:t>
            </a:r>
            <a:r>
              <a:rPr sz="2150" spc="270" dirty="0">
                <a:latin typeface="Times New Roman"/>
                <a:cs typeface="Times New Roman"/>
              </a:rPr>
              <a:t>  </a:t>
            </a:r>
            <a:r>
              <a:rPr sz="2150" spc="-10" dirty="0">
                <a:latin typeface="Times New Roman"/>
                <a:cs typeface="Times New Roman"/>
              </a:rPr>
              <a:t>cooling systems.</a:t>
            </a:r>
            <a:endParaRPr sz="2150">
              <a:latin typeface="Times New Roman"/>
              <a:cs typeface="Times New Roman"/>
            </a:endParaRPr>
          </a:p>
          <a:p>
            <a:pPr marL="355600" marR="10160" indent="-343535" algn="just">
              <a:lnSpc>
                <a:spcPts val="2400"/>
              </a:lnSpc>
              <a:spcBef>
                <a:spcPts val="1030"/>
              </a:spcBef>
              <a:buFont typeface="Arial MT"/>
              <a:buChar char="•"/>
              <a:tabLst>
                <a:tab pos="355600" algn="l"/>
                <a:tab pos="410209" algn="l"/>
              </a:tabLst>
            </a:pPr>
            <a:r>
              <a:rPr sz="2150" dirty="0">
                <a:latin typeface="Times New Roman"/>
                <a:cs typeface="Times New Roman"/>
              </a:rPr>
              <a:t>	Actuators</a:t>
            </a:r>
            <a:r>
              <a:rPr sz="2150" spc="5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control</a:t>
            </a:r>
            <a:r>
              <a:rPr sz="2150" spc="8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fans,</a:t>
            </a:r>
            <a:r>
              <a:rPr sz="2150" spc="65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heaters,</a:t>
            </a:r>
            <a:r>
              <a:rPr sz="2150" spc="7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and</a:t>
            </a:r>
            <a:r>
              <a:rPr sz="2150" spc="6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misting</a:t>
            </a:r>
            <a:r>
              <a:rPr sz="2150" spc="100" dirty="0">
                <a:latin typeface="Times New Roman"/>
                <a:cs typeface="Times New Roman"/>
              </a:rPr>
              <a:t>  </a:t>
            </a:r>
            <a:r>
              <a:rPr sz="2150" dirty="0">
                <a:latin typeface="Times New Roman"/>
                <a:cs typeface="Times New Roman"/>
              </a:rPr>
              <a:t>systems</a:t>
            </a:r>
            <a:r>
              <a:rPr sz="2150" spc="85" dirty="0">
                <a:latin typeface="Times New Roman"/>
                <a:cs typeface="Times New Roman"/>
              </a:rPr>
              <a:t>  </a:t>
            </a:r>
            <a:r>
              <a:rPr sz="2150" spc="-25" dirty="0">
                <a:latin typeface="Times New Roman"/>
                <a:cs typeface="Times New Roman"/>
              </a:rPr>
              <a:t>to </a:t>
            </a:r>
            <a:r>
              <a:rPr sz="2150" dirty="0">
                <a:latin typeface="Times New Roman"/>
                <a:cs typeface="Times New Roman"/>
              </a:rPr>
              <a:t>maintain</a:t>
            </a:r>
            <a:r>
              <a:rPr sz="2150" spc="16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optimal</a:t>
            </a:r>
            <a:r>
              <a:rPr sz="2150" spc="12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conditions</a:t>
            </a:r>
            <a:r>
              <a:rPr sz="2150" spc="12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without</a:t>
            </a:r>
            <a:r>
              <a:rPr sz="2150" spc="11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manual</a:t>
            </a:r>
            <a:r>
              <a:rPr sz="2150" spc="195" dirty="0">
                <a:latin typeface="Times New Roman"/>
                <a:cs typeface="Times New Roman"/>
              </a:rPr>
              <a:t> </a:t>
            </a:r>
            <a:r>
              <a:rPr sz="2150" spc="-10" dirty="0">
                <a:latin typeface="Times New Roman"/>
                <a:cs typeface="Times New Roman"/>
              </a:rPr>
              <a:t>intervention.</a:t>
            </a:r>
            <a:endParaRPr sz="2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710" rIns="0" bIns="0" rtlCol="0">
            <a:spAutoFit/>
          </a:bodyPr>
          <a:lstStyle/>
          <a:p>
            <a:pPr marL="1118235">
              <a:lnSpc>
                <a:spcPct val="100000"/>
              </a:lnSpc>
              <a:spcBef>
                <a:spcPts val="130"/>
              </a:spcBef>
            </a:pPr>
            <a:r>
              <a:rPr b="1" dirty="0">
                <a:latin typeface="Times New Roman"/>
                <a:cs typeface="Times New Roman"/>
              </a:rPr>
              <a:t>Hardware</a:t>
            </a:r>
            <a:r>
              <a:rPr b="1" spc="-1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-18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Software</a:t>
            </a:r>
            <a:r>
              <a:rPr b="1" spc="-13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Components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9523" y="1357298"/>
            <a:ext cx="9501253" cy="6472926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sz="2400" b="1">
                <a:latin typeface="Times New Roman" pitchFamily="18" charset="0"/>
                <a:cs typeface="Times New Roman" pitchFamily="18" charset="0"/>
              </a:rPr>
              <a:t>Hardware</a:t>
            </a:r>
            <a:r>
              <a:rPr sz="2400" b="1" spc="-16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10" smtClean="0">
                <a:latin typeface="Times New Roman" pitchFamily="18" charset="0"/>
                <a:cs typeface="Times New Roman" pitchFamily="18" charset="0"/>
              </a:rPr>
              <a:t>Components</a:t>
            </a:r>
            <a:endParaRPr lang="en-US" sz="3200" b="1" spc="-10" dirty="0" smtClean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79500"/>
              </a:lnSpc>
              <a:spcBef>
                <a:spcPts val="1080"/>
              </a:spcBef>
            </a:pPr>
            <a:endParaRPr lang="en-I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12700" marR="5080" algn="just">
              <a:lnSpc>
                <a:spcPct val="79500"/>
              </a:lnSpc>
              <a:spcBef>
                <a:spcPts val="1080"/>
              </a:spcBef>
            </a:pPr>
            <a:r>
              <a:rPr sz="2400" b="1" smtClean="0">
                <a:latin typeface="Times New Roman" pitchFamily="18" charset="0"/>
                <a:cs typeface="Times New Roman" pitchFamily="18" charset="0"/>
              </a:rPr>
              <a:t>ESP8266</a:t>
            </a:r>
            <a:r>
              <a:rPr sz="2400" b="1" spc="32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sz="2400" b="1" spc="3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ESP8266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Wi-Fi-enabled microcontroller module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12700" marR="5080" algn="just">
              <a:lnSpc>
                <a:spcPct val="79500"/>
              </a:lnSpc>
              <a:spcBef>
                <a:spcPts val="108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that allows devices to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connect wirelessly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to the internet. It’s commonly </a:t>
            </a:r>
          </a:p>
          <a:p>
            <a:pPr marL="12700" marR="5080" algn="just">
              <a:lnSpc>
                <a:spcPct val="79500"/>
              </a:lnSpc>
              <a:spcBef>
                <a:spcPts val="108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used in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projects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due to its low cost, compact size, and built-in </a:t>
            </a:r>
          </a:p>
          <a:p>
            <a:pPr marL="12700" marR="5080" algn="just">
              <a:lnSpc>
                <a:spcPct val="79500"/>
              </a:lnSpc>
              <a:spcBef>
                <a:spcPts val="108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networking capability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14120" algn="l"/>
                <a:tab pos="2416175" algn="l"/>
                <a:tab pos="3821429" algn="l"/>
                <a:tab pos="5510530" algn="l"/>
              </a:tabLst>
            </a:pPr>
            <a:endParaRPr lang="en-US" sz="2400" b="1" spc="-10" dirty="0" smtClean="0">
              <a:latin typeface="Times New Roman"/>
              <a:cs typeface="Times New Roman"/>
            </a:endParaRP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14120" algn="l"/>
                <a:tab pos="2416175" algn="l"/>
                <a:tab pos="3821429" algn="l"/>
                <a:tab pos="5510530" algn="l"/>
              </a:tabLst>
            </a:pPr>
            <a:r>
              <a:rPr lang="en-US" sz="2400" b="1" spc="-10" dirty="0" smtClean="0">
                <a:latin typeface="Times New Roman"/>
                <a:cs typeface="Times New Roman"/>
              </a:rPr>
              <a:t>Range :</a:t>
            </a:r>
            <a:endParaRPr lang="en-US" sz="2400" b="1" spc="-10" dirty="0" smtClean="0">
              <a:latin typeface="Times New Roman"/>
              <a:cs typeface="Times New Roman"/>
            </a:endParaRPr>
          </a:p>
          <a:p>
            <a:pPr marL="355600" indent="-342900">
              <a:lnSpc>
                <a:spcPts val="2605"/>
              </a:lnSpc>
              <a:spcBef>
                <a:spcPts val="425"/>
              </a:spcBef>
              <a:buFont typeface="Arial" panose="020B0604020202020204" pitchFamily="34" charset="0"/>
              <a:buChar char="•"/>
              <a:tabLst>
                <a:tab pos="1214120" algn="l"/>
                <a:tab pos="2416175" algn="l"/>
                <a:tab pos="3821429" algn="l"/>
                <a:tab pos="5510530" algn="l"/>
              </a:tabLst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Wi-Fi Range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Up to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 meters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open space (30–50 meters indoors).</a:t>
            </a:r>
            <a:endParaRPr lang="en-US" sz="2400" b="1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ts val="2605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2.4 GHz (IEEE 802.11 b/g/n)</a:t>
            </a:r>
          </a:p>
          <a:p>
            <a:pPr marL="355600" indent="-342900" algn="l" rtl="0">
              <a:lnSpc>
                <a:spcPts val="2605"/>
              </a:lnSpc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Voltage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3.0–3.6V (typically 3.3V)</a:t>
            </a:r>
          </a:p>
          <a:p>
            <a:pPr marL="12700" algn="l" rtl="0">
              <a:lnSpc>
                <a:spcPts val="2605"/>
              </a:lnSpc>
            </a:pP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ts val="2605"/>
              </a:lnSpc>
              <a:buFont typeface="Arial" panose="020B0604020202020204" pitchFamily="34" charset="0"/>
              <a:buChar char="•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ts val="2605"/>
              </a:lnSpc>
              <a:buFont typeface="Arial" panose="020B0604020202020204" pitchFamily="34" charset="0"/>
              <a:buChar char="•"/>
            </a:pPr>
            <a:endParaRPr lang="en-US" sz="22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ts val="2605"/>
              </a:lnSpc>
              <a:buFont typeface="Arial" panose="020B0604020202020204" pitchFamily="34" charset="0"/>
              <a:buChar char="•"/>
            </a:pPr>
            <a:endParaRPr lang="en-US"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ts val="2605"/>
              </a:lnSpc>
              <a:buFont typeface="Arial" panose="020B0604020202020204" pitchFamily="34" charset="0"/>
              <a:buChar char="•"/>
            </a:pPr>
            <a:endParaRPr lang="en-US"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2605"/>
              </a:lnSpc>
            </a:pP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915400" y="2819400"/>
            <a:ext cx="3276600" cy="24381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838200"/>
            <a:ext cx="93726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14120" algn="l"/>
                <a:tab pos="2416175" algn="l"/>
                <a:tab pos="3821429" algn="l"/>
                <a:tab pos="5510530" algn="l"/>
              </a:tabLst>
            </a:pPr>
            <a:r>
              <a:rPr lang="en-US" sz="2400" b="1" spc="-10" dirty="0" smtClean="0">
                <a:latin typeface="Times New Roman"/>
                <a:cs typeface="Times New Roman"/>
              </a:rPr>
              <a:t>DHT22</a:t>
            </a:r>
            <a:r>
              <a:rPr lang="en-US" sz="2400" b="1" dirty="0" smtClean="0">
                <a:latin typeface="Times New Roman"/>
                <a:cs typeface="Times New Roman"/>
              </a:rPr>
              <a:t>	</a:t>
            </a:r>
            <a:r>
              <a:rPr lang="en-US" sz="2400" b="1" spc="-10" dirty="0" smtClean="0">
                <a:latin typeface="Times New Roman"/>
                <a:cs typeface="Times New Roman"/>
              </a:rPr>
              <a:t>Sensor</a:t>
            </a:r>
            <a:r>
              <a:rPr lang="en-US" sz="2400" spc="-10" dirty="0" smtClean="0">
                <a:latin typeface="Times New Roman"/>
                <a:cs typeface="Times New Roman"/>
              </a:rPr>
              <a:t>:</a:t>
            </a: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14120" algn="l"/>
                <a:tab pos="2416175" algn="l"/>
                <a:tab pos="3821429" algn="l"/>
                <a:tab pos="5510530" algn="l"/>
              </a:tabLst>
            </a:pPr>
            <a:endParaRPr lang="en-US" sz="2400" spc="-10" dirty="0" smtClean="0">
              <a:latin typeface="Times New Roman"/>
              <a:cs typeface="Times New Roman"/>
            </a:endParaRP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14120" algn="l"/>
                <a:tab pos="2416175" algn="l"/>
                <a:tab pos="3821429" algn="l"/>
                <a:tab pos="5510530" algn="l"/>
              </a:tabLst>
            </a:pPr>
            <a:r>
              <a:rPr lang="en-US" spc="-10" dirty="0" smtClean="0">
                <a:latin typeface="Times New Roman"/>
                <a:cs typeface="Times New Roman"/>
              </a:rPr>
              <a:t>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DHT22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a digital sensor used to measure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and humidity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It uses a thermistor and a capacitive sensor to collect data and sends it digitally to a microcontroller</a:t>
            </a:r>
            <a:r>
              <a:rPr lang="en-US" sz="2400" dirty="0" smtClean="0"/>
              <a:t>.</a:t>
            </a: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14120" algn="l"/>
                <a:tab pos="2416175" algn="l"/>
                <a:tab pos="3821429" algn="l"/>
                <a:tab pos="5510530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Range: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🌡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Range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-40°C to +80°C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🎯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Accuracy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±0.5°C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💧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Range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0% to 100% RH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🎯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Accuracy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±2% to ±5% RH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🔍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0.1°C and 0.1% RH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3048000"/>
            <a:ext cx="3124200" cy="292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53467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33400"/>
            <a:ext cx="10972800" cy="4996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2605"/>
              </a:lnSpc>
            </a:pPr>
            <a:endParaRPr lang="en-US" dirty="0" smtClean="0">
              <a:latin typeface="Times New Roman"/>
              <a:cs typeface="Times New Roman"/>
            </a:endParaRP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r>
              <a:rPr lang="en-US" sz="2400" b="1" spc="-10" dirty="0" smtClean="0">
                <a:latin typeface="Times New Roman"/>
                <a:cs typeface="Times New Roman"/>
              </a:rPr>
              <a:t>MQ-</a:t>
            </a:r>
            <a:r>
              <a:rPr lang="en-US" sz="2400" b="1" spc="-25" dirty="0" smtClean="0">
                <a:latin typeface="Times New Roman"/>
                <a:cs typeface="Times New Roman"/>
              </a:rPr>
              <a:t>135</a:t>
            </a:r>
            <a:r>
              <a:rPr lang="en-US" sz="2400" b="1" dirty="0" smtClean="0">
                <a:latin typeface="Times New Roman"/>
                <a:cs typeface="Times New Roman"/>
              </a:rPr>
              <a:t>	</a:t>
            </a:r>
            <a:r>
              <a:rPr lang="en-US" sz="2400" b="1" spc="-10" dirty="0" smtClean="0">
                <a:latin typeface="Times New Roman"/>
                <a:cs typeface="Times New Roman"/>
              </a:rPr>
              <a:t>Sensor</a:t>
            </a:r>
            <a:r>
              <a:rPr lang="en-US" sz="2400" spc="-10" dirty="0" smtClean="0">
                <a:latin typeface="Times New Roman"/>
                <a:cs typeface="Times New Roman"/>
              </a:rPr>
              <a:t>:</a:t>
            </a: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sz="2400" spc="-10" dirty="0" smtClean="0">
              <a:latin typeface="Times New Roman"/>
              <a:cs typeface="Times New Roman"/>
            </a:endParaRP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r>
              <a:rPr lang="en-US" dirty="0" smtClean="0">
                <a:latin typeface="Times New Roman"/>
                <a:cs typeface="Times New Roman"/>
              </a:rPr>
              <a:t>	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MQ-135 sensor detects harmful gases by changing its </a:t>
            </a: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resistance when exposed to them. This change is converted into </a:t>
            </a: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analog voltage output, which varies with gas concentration.</a:t>
            </a: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Range:</a:t>
            </a: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Detects gas concentrations approximately from 10 ppm to 1000 ppm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to gases like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ammonia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(NH3),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benzene, alcohol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smoke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highly accurate for CO2 but can detect it to some extent</a:t>
            </a: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5400000">
            <a:off x="9486900" y="800100"/>
            <a:ext cx="23622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91787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066800"/>
            <a:ext cx="9982200" cy="7684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Lcd</a:t>
            </a:r>
            <a:r>
              <a:rPr lang="en-US" sz="2400" b="1" spc="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Display:</a:t>
            </a: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ts val="2605"/>
              </a:lnSpc>
              <a:spcBef>
                <a:spcPts val="425"/>
              </a:spcBef>
              <a:buFont typeface="Arial" panose="020B0604020202020204" pitchFamily="34" charset="0"/>
              <a:buChar char="•"/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stands for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Liquid Crystal Display</a:t>
            </a:r>
          </a:p>
          <a:p>
            <a:pPr marL="355600" indent="-342900">
              <a:lnSpc>
                <a:spcPts val="2605"/>
              </a:lnSpc>
              <a:spcBef>
                <a:spcPts val="425"/>
              </a:spcBef>
              <a:buFont typeface="Arial" panose="020B0604020202020204" pitchFamily="34" charset="0"/>
              <a:buChar char="•"/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liquid crystals to control light passage and display images or text</a:t>
            </a:r>
          </a:p>
          <a:p>
            <a:pPr marL="355600" indent="-342900">
              <a:lnSpc>
                <a:spcPts val="2605"/>
              </a:lnSpc>
              <a:spcBef>
                <a:spcPts val="425"/>
              </a:spcBef>
              <a:buFont typeface="Arial" panose="020B0604020202020204" pitchFamily="34" charset="0"/>
              <a:buChar char="•"/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Does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emit light; relies on backlight or ambient light</a:t>
            </a:r>
          </a:p>
          <a:p>
            <a:pPr marL="355600" indent="-342900">
              <a:lnSpc>
                <a:spcPts val="2605"/>
              </a:lnSpc>
              <a:spcBef>
                <a:spcPts val="425"/>
              </a:spcBef>
              <a:buFont typeface="Arial" panose="020B0604020202020204" pitchFamily="34" charset="0"/>
              <a:buChar char="•"/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Liquid crystals align when electric current is applied, blocking</a:t>
            </a: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allowing light</a:t>
            </a:r>
          </a:p>
          <a:p>
            <a:pPr marL="355600" indent="-342900">
              <a:lnSpc>
                <a:spcPts val="2605"/>
              </a:lnSpc>
              <a:spcBef>
                <a:spcPts val="425"/>
              </a:spcBef>
              <a:buFont typeface="Arial" panose="020B0604020202020204" pitchFamily="34" charset="0"/>
              <a:buChar char="•"/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LCD: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fixed text (e.g., 16x2, 20x4)</a:t>
            </a:r>
          </a:p>
          <a:p>
            <a:pPr marL="355600" indent="-342900">
              <a:lnSpc>
                <a:spcPts val="2605"/>
              </a:lnSpc>
              <a:spcBef>
                <a:spcPts val="425"/>
              </a:spcBef>
              <a:buFont typeface="Arial" panose="020B0604020202020204" pitchFamily="34" charset="0"/>
              <a:buChar char="•"/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r>
              <a:rPr lang="en-US" b="1" spc="60" dirty="0" smtClean="0">
                <a:latin typeface="Times New Roman"/>
                <a:cs typeface="Times New Roman"/>
              </a:rPr>
              <a:t> </a:t>
            </a: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b="1" spc="60" dirty="0">
              <a:latin typeface="Times New Roman"/>
              <a:cs typeface="Times New Roman"/>
            </a:endParaRP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spc="-10" dirty="0" smtClean="0">
              <a:latin typeface="Times New Roman"/>
              <a:cs typeface="Times New Roman"/>
            </a:endParaRP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spc="-10" dirty="0" smtClean="0">
              <a:latin typeface="Times New Roman"/>
              <a:cs typeface="Times New Roman"/>
            </a:endParaRP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spc="-10" dirty="0" smtClean="0">
              <a:latin typeface="Times New Roman"/>
              <a:cs typeface="Times New Roman"/>
            </a:endParaRP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spc="-10" dirty="0">
              <a:latin typeface="Times New Roman"/>
              <a:cs typeface="Times New Roman"/>
            </a:endParaRP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spc="-10" dirty="0" smtClean="0">
              <a:latin typeface="Times New Roman"/>
              <a:cs typeface="Times New Roman"/>
            </a:endParaRP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spc="-10" dirty="0">
              <a:latin typeface="Times New Roman"/>
              <a:cs typeface="Times New Roman"/>
            </a:endParaRP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spc="-10" dirty="0" smtClean="0">
              <a:latin typeface="Times New Roman"/>
              <a:cs typeface="Times New Roman"/>
            </a:endParaRP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spc="-10" dirty="0">
              <a:latin typeface="Times New Roman"/>
              <a:cs typeface="Times New Roman"/>
            </a:endParaRP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dirty="0" smtClean="0">
              <a:latin typeface="Times New Roman"/>
              <a:cs typeface="Times New Roman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194304" y="3429000"/>
            <a:ext cx="3977224" cy="267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25444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371600"/>
            <a:ext cx="8534400" cy="10874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algn="just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Actuators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(LCD):</a:t>
            </a:r>
          </a:p>
          <a:p>
            <a:pPr marL="12700" algn="just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b="1" dirty="0" smtClean="0">
              <a:latin typeface="Times New Roman"/>
              <a:cs typeface="Times New Roman"/>
            </a:endParaRPr>
          </a:p>
          <a:p>
            <a:r>
              <a:rPr lang="en-US" b="1" dirty="0" smtClean="0"/>
              <a:t> </a:t>
            </a:r>
            <a:endParaRPr lang="en-US" dirty="0"/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Cooling fans activate during high temperatures.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Heaters maintain warmth in low temperatures.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Misting system helps in lowering temperature and increasing humidity</a:t>
            </a:r>
            <a:r>
              <a:rPr lang="en-US" sz="2400" dirty="0" smtClean="0"/>
              <a:t>.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 </a:t>
            </a:r>
          </a:p>
          <a:p>
            <a:pPr marL="12700" algn="just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spc="-10" dirty="0">
              <a:latin typeface="Times New Roman"/>
              <a:cs typeface="Times New Roman"/>
            </a:endParaRPr>
          </a:p>
          <a:p>
            <a:pPr marL="12700" algn="just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spc="-10" dirty="0" smtClean="0">
              <a:latin typeface="Times New Roman"/>
              <a:cs typeface="Times New Roman"/>
            </a:endParaRPr>
          </a:p>
          <a:p>
            <a:pPr marL="12700" algn="just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spc="-10" dirty="0">
              <a:latin typeface="Times New Roman"/>
              <a:cs typeface="Times New Roman"/>
            </a:endParaRPr>
          </a:p>
          <a:p>
            <a:pPr marL="12700" algn="just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spc="-10" dirty="0" smtClean="0">
              <a:latin typeface="Times New Roman"/>
              <a:cs typeface="Times New Roman"/>
            </a:endParaRPr>
          </a:p>
          <a:p>
            <a:pPr marL="12700" algn="just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spc="-10" dirty="0">
              <a:latin typeface="Times New Roman"/>
              <a:cs typeface="Times New Roman"/>
            </a:endParaRPr>
          </a:p>
          <a:p>
            <a:pPr marL="12700" algn="just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spc="-10" dirty="0" smtClean="0">
              <a:latin typeface="Times New Roman"/>
              <a:cs typeface="Times New Roman"/>
            </a:endParaRPr>
          </a:p>
          <a:p>
            <a:pPr marL="12700" algn="just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spc="-10" dirty="0">
              <a:latin typeface="Times New Roman"/>
              <a:cs typeface="Times New Roman"/>
            </a:endParaRPr>
          </a:p>
          <a:p>
            <a:pPr marL="12700" algn="just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r>
              <a:rPr lang="en-US" spc="-10" dirty="0" smtClean="0">
                <a:latin typeface="Times New Roman"/>
                <a:cs typeface="Times New Roman"/>
              </a:rPr>
              <a:t>.</a:t>
            </a:r>
            <a:endParaRPr lang="en-US" dirty="0" smtClean="0">
              <a:latin typeface="Times New Roman"/>
              <a:cs typeface="Times New Roman"/>
            </a:endParaRPr>
          </a:p>
          <a:p>
            <a:pPr marL="355600" indent="-342900">
              <a:lnSpc>
                <a:spcPts val="2605"/>
              </a:lnSpc>
              <a:spcBef>
                <a:spcPts val="425"/>
              </a:spcBef>
              <a:buFont typeface="Arial" panose="020B0604020202020204" pitchFamily="34" charset="0"/>
              <a:buChar char="•"/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b="1" dirty="0" smtClean="0">
              <a:latin typeface="Times New Roman"/>
              <a:cs typeface="Times New Roman"/>
            </a:endParaRP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b="1" dirty="0" smtClean="0">
              <a:latin typeface="Times New Roman"/>
              <a:cs typeface="Times New Roman"/>
            </a:endParaRPr>
          </a:p>
          <a:p>
            <a:pPr marL="12700">
              <a:lnSpc>
                <a:spcPts val="2605"/>
              </a:lnSpc>
              <a:spcBef>
                <a:spcPts val="425"/>
              </a:spcBef>
              <a:tabLst>
                <a:tab pos="1256030" algn="l"/>
                <a:tab pos="2382520" algn="l"/>
                <a:tab pos="3456304" algn="l"/>
                <a:tab pos="3938270" algn="l"/>
                <a:tab pos="4943475" algn="l"/>
                <a:tab pos="5544185" algn="l"/>
              </a:tabLst>
            </a:pPr>
            <a:endParaRPr lang="en-US" b="1" spc="60" dirty="0">
              <a:latin typeface="Times New Roman"/>
              <a:cs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0" y="2362200"/>
            <a:ext cx="2591025" cy="190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93752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3767" y="1132839"/>
            <a:ext cx="387096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dirty="0">
                <a:latin typeface="Times New Roman"/>
                <a:cs typeface="Times New Roman"/>
              </a:rPr>
              <a:t>Software</a:t>
            </a:r>
            <a:r>
              <a:rPr sz="3200" b="1" spc="-17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Components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5340" y="2000240"/>
            <a:ext cx="9787006" cy="3609321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 algn="l">
              <a:lnSpc>
                <a:spcPct val="150000"/>
              </a:lnSpc>
              <a:spcBef>
                <a:spcPts val="825"/>
              </a:spcBef>
            </a:pPr>
            <a:r>
              <a:rPr sz="2400" b="1" dirty="0">
                <a:latin typeface="Times New Roman" pitchFamily="18" charset="0"/>
                <a:cs typeface="Times New Roman" pitchFamily="18" charset="0"/>
              </a:rPr>
              <a:t>Arduino</a:t>
            </a:r>
            <a:r>
              <a:rPr sz="2400" b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IDE</a:t>
            </a:r>
            <a:r>
              <a:rPr sz="2400" b="1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20" dirty="0">
                <a:latin typeface="Times New Roman" pitchFamily="18" charset="0"/>
                <a:cs typeface="Times New Roman" pitchFamily="18" charset="0"/>
              </a:rPr>
              <a:t>(C):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12700" algn="l">
              <a:lnSpc>
                <a:spcPct val="150000"/>
              </a:lnSpc>
              <a:spcBef>
                <a:spcPts val="725"/>
              </a:spcBef>
            </a:pPr>
            <a:r>
              <a:rPr lang="en-IN"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spc="-1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Purpose : Used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program the ESP8266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microcontroller.</a:t>
            </a:r>
          </a:p>
          <a:p>
            <a:pPr marL="12700" algn="l">
              <a:lnSpc>
                <a:spcPct val="150000"/>
              </a:lnSpc>
              <a:spcBef>
                <a:spcPts val="725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Role : Controls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hardware components such as sensors and actuators based on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logic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written in C/C++.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Functionality : Facilitates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communication between the ESP8266 and other sensors like DHT22 and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MQ-135 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-20250527-WA0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274" y="857232"/>
            <a:ext cx="5143536" cy="642942"/>
          </a:xfrm>
        </p:spPr>
        <p:txBody>
          <a:bodyPr/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Flask API</a:t>
            </a:r>
            <a:r>
              <a:rPr lang="en-US" sz="2400" dirty="0" smtClean="0"/>
              <a:t>:</a:t>
            </a: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9522" y="1500174"/>
            <a:ext cx="5929354" cy="3412931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Purpose : A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lightweight web framework in Python.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Role : Provides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 interface to expose sensor data and prediction outputs via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RESTful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APIs.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Functionality : Acts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 a communication layer between the sensor data processing and external user interfaces or dashboards.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 descr="IMG-20250527-WA0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438" y="642918"/>
            <a:ext cx="5857916" cy="4929223"/>
          </a:xfrm>
          <a:prstGeom prst="rect">
            <a:avLst/>
          </a:prstGeom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13500000" algn="br" rotWithShape="0">
              <a:prstClr val="black">
                <a:alpha val="40000"/>
              </a:prstClr>
            </a:outerShdw>
            <a:reflection blurRad="6350" stA="50000" endA="300" endPos="385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-20250527-WA0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12" y="642918"/>
            <a:ext cx="4286280" cy="571504"/>
          </a:xfrm>
        </p:spPr>
        <p:txBody>
          <a:bodyPr/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Cloud Database (Firebase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):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5275" y="1071546"/>
            <a:ext cx="5357849" cy="422711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Purpose 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Cloud-based real-time database service.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Role : Stores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real-time data from sensors for monitoring and future analysis.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Functionality : Allows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remote access to historical and real-time environmental data for decision-making and system control.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IMG-20250527-WA0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24" y="285728"/>
            <a:ext cx="6072230" cy="59293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  <a:outerShdw blurRad="50800" dist="38100" dir="13500000" algn="br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-20250527-WA0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 descr="IMG-20250527-WA00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438" y="0"/>
            <a:ext cx="6024562" cy="68579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087" y="258699"/>
            <a:ext cx="5737227" cy="369332"/>
          </a:xfrm>
        </p:spPr>
        <p:txBody>
          <a:bodyPr/>
          <a:lstStyle/>
          <a:p>
            <a:r>
              <a:rPr lang="en-IN" sz="2400" b="1" dirty="0" smtClean="0"/>
              <a:t>Program: Sample </a:t>
            </a:r>
            <a:r>
              <a:rPr lang="en-IN" sz="2400" b="1" dirty="0" err="1" smtClean="0"/>
              <a:t>Arduino</a:t>
            </a:r>
            <a:r>
              <a:rPr lang="en-IN" sz="2400" b="1" dirty="0" smtClean="0"/>
              <a:t> Code (ESP8266)</a:t>
            </a:r>
            <a:endParaRPr lang="en-US" sz="24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3902" y="714356"/>
            <a:ext cx="9929882" cy="5847755"/>
          </a:xfrm>
        </p:spPr>
        <p:txBody>
          <a:bodyPr/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#include &amp;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lt;DHT.h&amp;gt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#include &amp;lt;ESP8266WiFi.h&amp;gt;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#include &amp;lt;FirebaseESP8266.h&amp;gt;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#define DHTPIN D4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#define DHTTYPE DHT22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DHT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dht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(DHTPIN, DHTTYPE);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void setup() {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Serial.begin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(115200);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dht.begin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WiFi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Firebase initialization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void loop() {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float temperature =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dht.readTemperature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float humidity =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dht.readHumidity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// Upload to Firebase and control logic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delay(5000);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087" y="428604"/>
            <a:ext cx="7951805" cy="430887"/>
          </a:xfrm>
        </p:spPr>
        <p:txBody>
          <a:bodyPr/>
          <a:lstStyle/>
          <a:p>
            <a:r>
              <a:rPr lang="en-IN" sz="2800" b="1" dirty="0" smtClean="0"/>
              <a:t>Program: Firebase Database Structure</a:t>
            </a:r>
            <a:endParaRPr lang="en-US" sz="2800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09589" y="1142985"/>
            <a:ext cx="10644262" cy="4786345"/>
          </a:xfrm>
        </p:spPr>
        <p:txBody>
          <a:bodyPr/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”Readings”: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  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”2025-05-26 14:35:00”: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    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”Temperature”: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31.7,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    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”Humidity”: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62.9,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    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”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AirQuality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”: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808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   },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  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”2025-05-26 14:40:00”: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    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”Temperature”: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32.1,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    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”Humidity”: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63.2,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    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”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AirQuality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”: 780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 }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6143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Result: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4450" y="1552575"/>
            <a:ext cx="9172575" cy="47053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0300" y="666750"/>
            <a:ext cx="6858000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600075"/>
            <a:ext cx="68580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42720">
              <a:lnSpc>
                <a:spcPct val="100000"/>
              </a:lnSpc>
              <a:spcBef>
                <a:spcPts val="130"/>
              </a:spcBef>
            </a:pPr>
            <a:r>
              <a:rPr dirty="0"/>
              <a:t>FLOW</a:t>
            </a:r>
            <a:r>
              <a:rPr spc="-165" dirty="0"/>
              <a:t> </a:t>
            </a:r>
            <a:r>
              <a:rPr spc="-10" dirty="0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5822" y="1158497"/>
            <a:ext cx="4844460" cy="53220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6803" y="1052766"/>
            <a:ext cx="270129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spc="-10" dirty="0"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8836" y="2615247"/>
            <a:ext cx="9871075" cy="274764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 algn="just">
              <a:lnSpc>
                <a:spcPct val="91400"/>
              </a:lnSpc>
              <a:spcBef>
                <a:spcPts val="409"/>
              </a:spcBef>
            </a:pPr>
            <a:r>
              <a:rPr sz="2750" dirty="0">
                <a:latin typeface="Times New Roman"/>
                <a:cs typeface="Times New Roman"/>
              </a:rPr>
              <a:t>This</a:t>
            </a:r>
            <a:r>
              <a:rPr sz="2750" spc="175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study</a:t>
            </a:r>
            <a:r>
              <a:rPr sz="2750" spc="190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demonstrates</a:t>
            </a:r>
            <a:r>
              <a:rPr sz="2750" spc="180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180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feasibility</a:t>
            </a:r>
            <a:r>
              <a:rPr sz="2750" spc="200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of</a:t>
            </a:r>
            <a:r>
              <a:rPr sz="2750" spc="170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an</a:t>
            </a:r>
            <a:r>
              <a:rPr sz="2750" spc="160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AI-powered,</a:t>
            </a:r>
            <a:r>
              <a:rPr sz="2750" spc="165" dirty="0">
                <a:latin typeface="Times New Roman"/>
                <a:cs typeface="Times New Roman"/>
              </a:rPr>
              <a:t>  </a:t>
            </a:r>
            <a:r>
              <a:rPr sz="2750" spc="-20" dirty="0">
                <a:latin typeface="Times New Roman"/>
                <a:cs typeface="Times New Roman"/>
              </a:rPr>
              <a:t>IoT- </a:t>
            </a:r>
            <a:r>
              <a:rPr sz="2750" dirty="0">
                <a:latin typeface="Times New Roman"/>
                <a:cs typeface="Times New Roman"/>
              </a:rPr>
              <a:t>enabled</a:t>
            </a:r>
            <a:r>
              <a:rPr sz="2750" spc="254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temperature</a:t>
            </a:r>
            <a:r>
              <a:rPr sz="2750" spc="220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regulation</a:t>
            </a:r>
            <a:r>
              <a:rPr sz="2750" spc="225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system</a:t>
            </a:r>
            <a:r>
              <a:rPr sz="2750" spc="220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for</a:t>
            </a:r>
            <a:r>
              <a:rPr sz="2750" spc="254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poultry</a:t>
            </a:r>
            <a:r>
              <a:rPr sz="2750" spc="245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farming.</a:t>
            </a:r>
            <a:r>
              <a:rPr sz="2750" spc="240" dirty="0">
                <a:latin typeface="Times New Roman"/>
                <a:cs typeface="Times New Roman"/>
              </a:rPr>
              <a:t>  </a:t>
            </a:r>
            <a:r>
              <a:rPr sz="2750" spc="-25" dirty="0">
                <a:latin typeface="Times New Roman"/>
                <a:cs typeface="Times New Roman"/>
              </a:rPr>
              <a:t>By </a:t>
            </a:r>
            <a:r>
              <a:rPr sz="2750" dirty="0">
                <a:latin typeface="Times New Roman"/>
                <a:cs typeface="Times New Roman"/>
              </a:rPr>
              <a:t>leveraging</a:t>
            </a:r>
            <a:r>
              <a:rPr sz="2750" spc="39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advanced</a:t>
            </a:r>
            <a:r>
              <a:rPr sz="2750" spc="41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automation,</a:t>
            </a:r>
            <a:r>
              <a:rPr sz="2750" spc="38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predictive</a:t>
            </a:r>
            <a:r>
              <a:rPr sz="2750" spc="38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analytics,</a:t>
            </a:r>
            <a:r>
              <a:rPr sz="2750" spc="434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and</a:t>
            </a:r>
            <a:r>
              <a:rPr sz="2750" spc="44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real-</a:t>
            </a:r>
            <a:r>
              <a:rPr sz="2750" spc="-20" dirty="0">
                <a:latin typeface="Times New Roman"/>
                <a:cs typeface="Times New Roman"/>
              </a:rPr>
              <a:t>time </a:t>
            </a:r>
            <a:r>
              <a:rPr sz="2750" dirty="0">
                <a:latin typeface="Times New Roman"/>
                <a:cs typeface="Times New Roman"/>
              </a:rPr>
              <a:t>monitoring,</a:t>
            </a:r>
            <a:r>
              <a:rPr sz="2750" spc="105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100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system</a:t>
            </a:r>
            <a:r>
              <a:rPr sz="2750" spc="95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enhances</a:t>
            </a:r>
            <a:r>
              <a:rPr sz="2750" spc="105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poultry</a:t>
            </a:r>
            <a:r>
              <a:rPr sz="2750" spc="110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welfare</a:t>
            </a:r>
            <a:r>
              <a:rPr sz="2750" spc="110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while</a:t>
            </a:r>
            <a:r>
              <a:rPr sz="2750" spc="110" dirty="0">
                <a:latin typeface="Times New Roman"/>
                <a:cs typeface="Times New Roman"/>
              </a:rPr>
              <a:t>  </a:t>
            </a:r>
            <a:r>
              <a:rPr sz="2750" spc="-10" dirty="0">
                <a:latin typeface="Times New Roman"/>
                <a:cs typeface="Times New Roman"/>
              </a:rPr>
              <a:t>reducing </a:t>
            </a:r>
            <a:r>
              <a:rPr sz="2750" dirty="0">
                <a:latin typeface="Times New Roman"/>
                <a:cs typeface="Times New Roman"/>
              </a:rPr>
              <a:t>operational</a:t>
            </a:r>
            <a:r>
              <a:rPr sz="2750" spc="63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costs.</a:t>
            </a:r>
            <a:r>
              <a:rPr sz="2750" spc="59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Future</a:t>
            </a:r>
            <a:r>
              <a:rPr sz="2750" spc="60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work</a:t>
            </a:r>
            <a:r>
              <a:rPr sz="2750" spc="62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will</a:t>
            </a:r>
            <a:r>
              <a:rPr sz="2750" spc="57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focus</a:t>
            </a:r>
            <a:r>
              <a:rPr sz="2750" spc="63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on</a:t>
            </a:r>
            <a:r>
              <a:rPr sz="2750" spc="57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integrating</a:t>
            </a:r>
            <a:r>
              <a:rPr sz="2750" spc="61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advanced </a:t>
            </a:r>
            <a:r>
              <a:rPr sz="2750" dirty="0">
                <a:latin typeface="Times New Roman"/>
                <a:cs typeface="Times New Roman"/>
              </a:rPr>
              <a:t>machine</a:t>
            </a:r>
            <a:r>
              <a:rPr sz="2750" spc="220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learning</a:t>
            </a:r>
            <a:r>
              <a:rPr sz="2750" spc="225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models</a:t>
            </a:r>
            <a:r>
              <a:rPr sz="2750" spc="250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for</a:t>
            </a:r>
            <a:r>
              <a:rPr sz="2750" spc="250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disease</a:t>
            </a:r>
            <a:r>
              <a:rPr sz="2750" spc="245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prediction</a:t>
            </a:r>
            <a:r>
              <a:rPr sz="2750" spc="229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and</a:t>
            </a:r>
            <a:r>
              <a:rPr sz="2750" spc="250" dirty="0">
                <a:latin typeface="Times New Roman"/>
                <a:cs typeface="Times New Roman"/>
              </a:rPr>
              <a:t>  </a:t>
            </a:r>
            <a:r>
              <a:rPr sz="2750" spc="-10" dirty="0">
                <a:latin typeface="Times New Roman"/>
                <a:cs typeface="Times New Roman"/>
              </a:rPr>
              <a:t>automated </a:t>
            </a:r>
            <a:r>
              <a:rPr sz="2750" dirty="0">
                <a:latin typeface="Times New Roman"/>
                <a:cs typeface="Times New Roman"/>
              </a:rPr>
              <a:t>feeding</a:t>
            </a:r>
            <a:r>
              <a:rPr sz="2750" spc="114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systems.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5195" y="3032696"/>
            <a:ext cx="527050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spc="-10" dirty="0">
                <a:latin typeface="Times New Roman"/>
                <a:cs typeface="Times New Roman"/>
              </a:rPr>
              <a:t>ANY</a:t>
            </a:r>
            <a:r>
              <a:rPr b="1" spc="-26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QUERIES…???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0246" y="3013646"/>
            <a:ext cx="547243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dirty="0">
                <a:latin typeface="Times New Roman"/>
                <a:cs typeface="Times New Roman"/>
              </a:rPr>
              <a:t>THANK</a:t>
            </a:r>
            <a:r>
              <a:rPr b="1" spc="-254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YOU</a:t>
            </a:r>
            <a:r>
              <a:rPr b="1" spc="-100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Wingdings"/>
                <a:cs typeface="Wingdings"/>
              </a:rPr>
              <a:t>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</TotalTime>
  <Words>1168</Words>
  <Application>Microsoft Office PowerPoint</Application>
  <PresentationFormat>Custom</PresentationFormat>
  <Paragraphs>229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AI-Based Temperature Regulation System in Poultry Farming</vt:lpstr>
      <vt:lpstr>ABSTRACT</vt:lpstr>
      <vt:lpstr>Literature Review</vt:lpstr>
      <vt:lpstr>Slide 4</vt:lpstr>
      <vt:lpstr>Slide 5</vt:lpstr>
      <vt:lpstr>Slide 6</vt:lpstr>
      <vt:lpstr>Existing System</vt:lpstr>
      <vt:lpstr>Proposed System</vt:lpstr>
      <vt:lpstr>System Design</vt:lpstr>
      <vt:lpstr>IoT-Based Monitoring System</vt:lpstr>
      <vt:lpstr>Automated Control Mechanisms</vt:lpstr>
      <vt:lpstr>Hardware and Software Components</vt:lpstr>
      <vt:lpstr>Slide 13</vt:lpstr>
      <vt:lpstr>Slide 14</vt:lpstr>
      <vt:lpstr>Slide 15</vt:lpstr>
      <vt:lpstr>Slide 16</vt:lpstr>
      <vt:lpstr>Software Components</vt:lpstr>
      <vt:lpstr>Slide 18</vt:lpstr>
      <vt:lpstr>Flask API:</vt:lpstr>
      <vt:lpstr>Slide 20</vt:lpstr>
      <vt:lpstr>Cloud Database (Firebase): </vt:lpstr>
      <vt:lpstr>Slide 22</vt:lpstr>
      <vt:lpstr>Program: Sample Arduino Code (ESP8266)</vt:lpstr>
      <vt:lpstr>Program: Firebase Database Structure</vt:lpstr>
      <vt:lpstr>Result:</vt:lpstr>
      <vt:lpstr>Slide 26</vt:lpstr>
      <vt:lpstr>Slide 27</vt:lpstr>
      <vt:lpstr>FLOW DIAGRAM</vt:lpstr>
      <vt:lpstr>Conclusion</vt:lpstr>
      <vt:lpstr>ANY QUERIES…???</vt:lpstr>
      <vt:lpstr>THANK YOU 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Temperature Regulation System in Poultry Farming</dc:title>
  <cp:lastModifiedBy>Windows User</cp:lastModifiedBy>
  <cp:revision>23</cp:revision>
  <dcterms:created xsi:type="dcterms:W3CDTF">2025-05-27T08:10:57Z</dcterms:created>
  <dcterms:modified xsi:type="dcterms:W3CDTF">2025-05-27T17:16:45Z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2025-05-22T00:00:00Z</vt:filetime>
  </property>
  <property fmtid="{D5CDD505-2E9C-101B-9397-08002B2CF9AE}" pid="3" name="LastSaved">
    <vt:filetime>2025-05-27T00:00:00Z</vt:filetime>
  </property>
</Properties>
</file>